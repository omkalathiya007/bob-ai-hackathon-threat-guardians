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8B949E"/>
                </a:solidFill>
                <a:latin typeface="Arial"/>
              </a:defRPr>
            </a:pPr>
            <a:r>
              <a:rPr sz="1000" b="0" i="0" u="none" strike="noStrike">
                <a:solidFill>
                  <a:srgbClr val="8B949E"/>
                </a:solidFill>
                <a:latin typeface="Arial"/>
              </a:rPr>
              <a:t>Severity Distribution (demo dataset)</a:t>
            </a:r>
          </a:p>
        </c:rich>
      </c:tx>
      <c:layout/>
      <c:overlay val="0"/>
    </c:title>
    <c:autoTitleDeleted val="0"/>
    <c:plotArea>
      <c:layout/>
      <c:doughnutChart>
        <c:varyColors val="1"/>
        <c:ser>
          <c:idx val="0"/>
          <c:order val="0"/>
          <c:tx>
            <c:strRef>
              <c:f>Sheet1!$B$1</c:f>
              <c:strCache>
                <c:ptCount val="1"/>
                <c:pt idx="0">
                  <c:v>Severity</c:v>
                </c:pt>
              </c:strCache>
            </c:strRef>
          </c:tx>
          <c:spPr>
            <a:solidFill>
              <a:schemeClr val="accent1"/>
            </a:solidFill>
            <a:ln w="9525" cap="flat">
              <a:solidFill>
                <a:srgbClr val="F9F9F9"/>
              </a:solidFill>
              <a:prstDash val="solid"/>
              <a:round/>
            </a:ln>
            <a:effectLst/>
          </c:spPr>
          <c:dPt>
            <c:idx val="0"/>
            <c:bubble3D val="0"/>
            <c:spPr>
              <a:solidFill>
                <a:srgbClr val="F85149"/>
              </a:solidFill>
              <a:effectLst/>
            </c:spPr>
          </c:dPt>
          <c:dPt>
            <c:idx val="1"/>
            <c:bubble3D val="0"/>
            <c:spPr>
              <a:solidFill>
                <a:srgbClr val="E3B341"/>
              </a:solidFill>
              <a:effectLst/>
            </c:spPr>
          </c:dPt>
          <c:dPt>
            <c:idx val="2"/>
            <c:bubble3D val="0"/>
            <c:spPr>
              <a:solidFill>
                <a:srgbClr val="3FB950"/>
              </a:solidFill>
              <a:effectLst/>
            </c:spPr>
          </c:dPt>
          <c:dPt>
            <c:idx val="3"/>
            <c:bubble3D val="0"/>
            <c:spPr>
              <a:solidFill>
                <a:srgbClr val="388BFD"/>
              </a:solidFill>
              <a:effectLst/>
            </c:spPr>
          </c:dPt>
          <c:dLbls>
            <c:dLbl>
              <c:idx val="0"/>
              <c:numFmt formatCode="General" sourceLinked="0"/>
              <c:spPr/>
              <c:txPr>
                <a:bodyPr/>
                <a:lstStyle/>
                <a:p>
                  <a:pPr>
                    <a:defRPr sz="1000" b="1"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000" b="1" i="0" u="none" strike="noStrike">
                      <a:solidFill>
                        <a:srgbClr val="FFFFFF"/>
                      </a:solidFill>
                      <a:latin typeface="Calibri"/>
                    </a:defRPr>
                  </a:pPr>
                </a:p>
              </c:txPr>
              <c:showLegendKey val="0"/>
              <c:showVal val="1"/>
              <c:showCatName val="0"/>
              <c:showSerName val="0"/>
              <c:showPercent val="0"/>
              <c:showBubbleSize val="0"/>
            </c:dLbl>
            <c:dLbl>
              <c:idx val="2"/>
              <c:numFmt formatCode="General" sourceLinked="0"/>
              <c:spPr/>
              <c:txPr>
                <a:bodyPr/>
                <a:lstStyle/>
                <a:p>
                  <a:pPr>
                    <a:defRPr sz="1000" b="1" i="0" u="none" strike="noStrike">
                      <a:solidFill>
                        <a:srgbClr val="FFFFFF"/>
                      </a:solidFill>
                      <a:latin typeface="Calibri"/>
                    </a:defRPr>
                  </a:pPr>
                </a:p>
              </c:txPr>
              <c:showLegendKey val="0"/>
              <c:showVal val="1"/>
              <c:showCatName val="0"/>
              <c:showSerName val="0"/>
              <c:showPercent val="0"/>
              <c:showBubbleSize val="0"/>
            </c:dLbl>
            <c:dLbl>
              <c:idx val="3"/>
              <c:numFmt formatCode="General" sourceLinked="0"/>
              <c:spPr/>
              <c:txPr>
                <a:bodyPr/>
                <a:lstStyle/>
                <a:p>
                  <a:pPr>
                    <a:defRPr sz="1000" b="1"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Critical</c:v>
                </c:pt>
                <c:pt idx="1">
                  <c:v>High</c:v>
                </c:pt>
                <c:pt idx="2">
                  <c:v>Medium</c:v>
                </c:pt>
                <c:pt idx="3">
                  <c:v>Low</c:v>
                </c:pt>
              </c:strCache>
            </c:strRef>
          </c:cat>
          <c:val>
            <c:numRef>
              <c:f>Sheet1!$B$2:$B$5</c:f>
              <c:numCache>
                <c:ptCount val="4"/>
                <c:pt idx="0">
                  <c:v>6</c:v>
                </c:pt>
                <c:pt idx="1">
                  <c:v>8</c:v>
                </c:pt>
                <c:pt idx="2">
                  <c:v>7</c:v>
                </c:pt>
                <c:pt idx="3">
                  <c:v>3</c:v>
                </c:pt>
              </c:numCache>
            </c:numRef>
          </c:val>
        </c:ser>
        <c:firstSliceAng val="0"/>
        <c:holeSize val="55"/>
      </c:doughnutChart>
      <c:spPr>
        <a:noFill/>
        <a:ln w="12700" cap="flat">
          <a:solidFill>
            <a:srgbClr val="141B26"/>
          </a:solidFill>
        </a:ln>
        <a:effectLst/>
      </c:spPr>
    </c:plotArea>
    <c:legend>
      <c:legendPos val="r"/>
      <c:overlay val="0"/>
      <c:txPr>
        <a:bodyPr/>
        <a:lstStyle/>
        <a:p>
          <a:pPr>
            <a:defRPr sz="1000">
              <a:solidFill>
                <a:srgbClr val="E6EDF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"Every SOC has the same problem - too many alerts, not enough analysts."
ThreatGuard AI is a working prototype, live right now at magical-arithmetic-3db1c2.netlify.app. It runs entirely in the browser: no server, no install, no API keys.
State the honesty caveat up front: every record in the demo is fictional. Nothing here is real threat data.
Timing: 30 seconds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cards out. Pick one concrete story: a brute-force attempt, a successful login and a lateral movement event are the same attack, but they arrive as three unrelated rows, possibly to three different analysts.
The point of the slide: the bottleneck is not detection, it is prioritisation and context.
If you have a real number from your own environment or from a cited industry report, add it here - do not quote a statistic you cannot source.
Timing: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in about a minute - name the six, do not narrate every word.
The two to dwell on are Correlation and False-Positive Triage: they are what separate this from a prettier alert table.
The client-side line at the bottom is a real selling point for anyone handling sensitive data - worth saying out loud, not just leaving on the slide.
Timing: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in one sentence each. The audience should be able to repeat it back: ingest, normalise, score, correlate, classify, report.
Stage 2 (Normalise) is the unglamorous one that makes the rest possible - five feed formats become one schema, which is why correlation can compare them at all.
The three principles underneath are your answer to the three questions judges always ask: is it tunable, does it replace the analyst, and where does the data go.
Timing: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before you present: the score 84 on this slide is an illustrative figure. Run this exact alert through the live app, read the real score off the dashboard, and replace 84 with it so the slide matches the demo. The P1-P4 bands (80-100 / 60-79 / 35-59 / 0-34) are the real ones from the app.
Delivery: read the input fields fast, then pause on the score. The memorable line is the last one - the same alert on a test box is a P3. Judges remember contrast.
Likely question: "how are the weights chosen?" Answer honestly - they are transparent, hand-tuned heuristics that an analyst can inspect and adjust, which is deliberate: a black-box score is not defensible in an incident review.
Timing: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wins the pitch. Spend time here.
Left side: read two or three of the five alert names and point out that individually none of them is alarming - a failed login spike and an off-hours successful login are Medium at best.
Right side: together they are an intrusion. The correlation engine found them because they share one source IP and one target asset inside the time window.
Be precise about what correlation does and does not claim: it groups alerts that share indicators. It does not prove an attack happened. The app states this on the page itself, and you should say it too - judges trust a team that names its own limits.
The reconstructed sequence is built from the MITRE tactics on the member alerts, not inferred independently.
Timing: 90 seconds. Consider running this live instead of showing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live if the room has internet - the site is static, so it loads in under a second.
Order matters: click Load Demo Data FIRST. Every other page is empty until you do, and an empty dashboard on the projector kills momentum.
Fallback plan: if the venue Wi-Fi fails, the same files run from a USB stick by opening index.html - except the Leaflet map tiles, which need internet. Have a screenshot of the Threat Map ready just in case.
The KPI numbers and the doughnut on this slide are placeholders from a sample run. Load the demo data once before the pitch, read the real figures off the dashboard, and update them so the slide matches what the room sees.
Timing: 5 minutes if demoing live, 45 seconds if only showing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your own limits before a judge finds them is a strength, not a weakness. Say the middle column out loud.
The strongest sentence on this slide: the scoring is heuristic and inspectable on purpose. In a real SOC, an analyst has to justify why an alert was deprioritised - that is impossible with an opaque model.
If asked "why no backend?" - the constraint was a hackathon build that anyone can run in one click. The architecture is deliberately swappable: the storage layer is the only thing that changes when it moves server-side.
Close on the URL and invite them to open it on their own phone or laptop while you take questions.
Timing: 45 seconds, then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19"/>
        </a:solidFill>
      </p:bgPr>
    </p:bg>
    <p:spTree>
      <p:nvGrpSpPr>
        <p:cNvPr id="1" name=""/>
        <p:cNvGrpSpPr/>
        <p:nvPr/>
      </p:nvGrpSpPr>
      <p:grpSpPr>
        <a:xfrm>
          <a:off x="0" y="0"/>
          <a:ext cx="0" cy="0"/>
          <a:chOff x="0" y="0"/>
          <a:chExt cx="0" cy="0"/>
        </a:xfrm>
      </p:grpSpPr>
      <p:sp>
        <p:nvSpPr>
          <p:cNvPr id="2" name="Shape 0"/>
          <p:cNvSpPr/>
          <p:nvPr/>
        </p:nvSpPr>
        <p:spPr>
          <a:xfrm>
            <a:off x="7315200" y="1188720"/>
            <a:ext cx="4663440" cy="4663440"/>
          </a:xfrm>
          <a:prstGeom prst="ellipse">
            <a:avLst/>
          </a:prstGeom>
          <a:solidFill>
            <a:srgbClr val="0B1019"/>
          </a:solidFill>
          <a:ln w="12700">
            <a:solidFill>
              <a:srgbClr val="22303F"/>
            </a:solidFill>
            <a:prstDash val="solid"/>
          </a:ln>
        </p:spPr>
      </p:sp>
      <p:sp>
        <p:nvSpPr>
          <p:cNvPr id="3" name="Shape 1"/>
          <p:cNvSpPr/>
          <p:nvPr/>
        </p:nvSpPr>
        <p:spPr>
          <a:xfrm>
            <a:off x="7955280" y="1828800"/>
            <a:ext cx="3383280" cy="3383280"/>
          </a:xfrm>
          <a:prstGeom prst="ellipse">
            <a:avLst/>
          </a:prstGeom>
          <a:solidFill>
            <a:srgbClr val="0B1019"/>
          </a:solidFill>
          <a:ln w="12700">
            <a:solidFill>
              <a:srgbClr val="22303F"/>
            </a:solidFill>
            <a:prstDash val="solid"/>
          </a:ln>
        </p:spPr>
      </p:sp>
      <p:sp>
        <p:nvSpPr>
          <p:cNvPr id="4" name="Shape 2"/>
          <p:cNvSpPr/>
          <p:nvPr/>
        </p:nvSpPr>
        <p:spPr>
          <a:xfrm>
            <a:off x="8595360" y="2468880"/>
            <a:ext cx="2103120" cy="2103120"/>
          </a:xfrm>
          <a:prstGeom prst="ellipse">
            <a:avLst/>
          </a:prstGeom>
          <a:solidFill>
            <a:srgbClr val="0B1019"/>
          </a:solidFill>
          <a:ln w="12700">
            <a:solidFill>
              <a:srgbClr val="22303F"/>
            </a:solidFill>
            <a:prstDash val="solid"/>
          </a:ln>
        </p:spPr>
      </p:sp>
      <p:sp>
        <p:nvSpPr>
          <p:cNvPr id="5" name="Shape 3"/>
          <p:cNvSpPr/>
          <p:nvPr/>
        </p:nvSpPr>
        <p:spPr>
          <a:xfrm>
            <a:off x="9144000" y="3017520"/>
            <a:ext cx="1005840" cy="1005840"/>
          </a:xfrm>
          <a:prstGeom prst="ellipse">
            <a:avLst/>
          </a:prstGeom>
          <a:solidFill>
            <a:srgbClr val="1B2431"/>
          </a:solidFill>
          <a:ln w="12700">
            <a:solidFill>
              <a:srgbClr val="58A6FF"/>
            </a:solidFill>
            <a:prstDash val="solid"/>
          </a:ln>
        </p:spPr>
      </p:sp>
      <p:pic>
        <p:nvPicPr>
          <p:cNvPr id="6" name="Image 0" descr="icons/shield.png">    </p:cNvPr>
          <p:cNvPicPr>
            <a:picLocks noChangeAspect="1"/>
          </p:cNvPicPr>
          <p:nvPr/>
        </p:nvPicPr>
        <p:blipFill>
          <a:blip r:embed="rId1"/>
          <a:stretch>
            <a:fillRect/>
          </a:stretch>
        </p:blipFill>
        <p:spPr>
          <a:xfrm>
            <a:off x="9372600" y="3246120"/>
            <a:ext cx="548640" cy="548640"/>
          </a:xfrm>
          <a:prstGeom prst="rect">
            <a:avLst/>
          </a:prstGeom>
        </p:spPr>
      </p:pic>
      <p:sp>
        <p:nvSpPr>
          <p:cNvPr id="7" name="Shape 4"/>
          <p:cNvSpPr/>
          <p:nvPr/>
        </p:nvSpPr>
        <p:spPr>
          <a:xfrm>
            <a:off x="7772400" y="2377440"/>
            <a:ext cx="137160" cy="137160"/>
          </a:xfrm>
          <a:prstGeom prst="ellipse">
            <a:avLst/>
          </a:prstGeom>
          <a:solidFill>
            <a:srgbClr val="F85149"/>
          </a:solidFill>
          <a:ln/>
        </p:spPr>
      </p:sp>
      <p:sp>
        <p:nvSpPr>
          <p:cNvPr id="8" name="Shape 5"/>
          <p:cNvSpPr/>
          <p:nvPr/>
        </p:nvSpPr>
        <p:spPr>
          <a:xfrm>
            <a:off x="11064240" y="2057400"/>
            <a:ext cx="137160" cy="137160"/>
          </a:xfrm>
          <a:prstGeom prst="ellipse">
            <a:avLst/>
          </a:prstGeom>
          <a:solidFill>
            <a:srgbClr val="E3B341"/>
          </a:solidFill>
          <a:ln/>
        </p:spPr>
      </p:sp>
      <p:sp>
        <p:nvSpPr>
          <p:cNvPr id="9" name="Shape 6"/>
          <p:cNvSpPr/>
          <p:nvPr/>
        </p:nvSpPr>
        <p:spPr>
          <a:xfrm>
            <a:off x="11475720" y="4343400"/>
            <a:ext cx="137160" cy="137160"/>
          </a:xfrm>
          <a:prstGeom prst="ellipse">
            <a:avLst/>
          </a:prstGeom>
          <a:solidFill>
            <a:srgbClr val="3FB950"/>
          </a:solidFill>
          <a:ln/>
        </p:spPr>
      </p:sp>
      <p:sp>
        <p:nvSpPr>
          <p:cNvPr id="10" name="Shape 7"/>
          <p:cNvSpPr/>
          <p:nvPr/>
        </p:nvSpPr>
        <p:spPr>
          <a:xfrm>
            <a:off x="8458200" y="5029200"/>
            <a:ext cx="137160" cy="137160"/>
          </a:xfrm>
          <a:prstGeom prst="ellipse">
            <a:avLst/>
          </a:prstGeom>
          <a:solidFill>
            <a:srgbClr val="388BFD"/>
          </a:solidFill>
          <a:ln/>
        </p:spPr>
      </p:sp>
      <p:sp>
        <p:nvSpPr>
          <p:cNvPr id="11" name="Shape 8"/>
          <p:cNvSpPr/>
          <p:nvPr/>
        </p:nvSpPr>
        <p:spPr>
          <a:xfrm>
            <a:off x="10149840" y="5257800"/>
            <a:ext cx="137160" cy="137160"/>
          </a:xfrm>
          <a:prstGeom prst="ellipse">
            <a:avLst/>
          </a:prstGeom>
          <a:solidFill>
            <a:srgbClr val="F85149"/>
          </a:solidFill>
          <a:ln/>
        </p:spPr>
      </p:sp>
      <p:sp>
        <p:nvSpPr>
          <p:cNvPr id="12" name="Shape 9"/>
          <p:cNvSpPr/>
          <p:nvPr/>
        </p:nvSpPr>
        <p:spPr>
          <a:xfrm>
            <a:off x="8046720" y="3840480"/>
            <a:ext cx="137160" cy="137160"/>
          </a:xfrm>
          <a:prstGeom prst="ellipse">
            <a:avLst/>
          </a:prstGeom>
          <a:solidFill>
            <a:srgbClr val="E3B341"/>
          </a:solidFill>
          <a:ln/>
        </p:spPr>
      </p:sp>
      <p:sp>
        <p:nvSpPr>
          <p:cNvPr id="13" name="Shape 10"/>
          <p:cNvSpPr/>
          <p:nvPr/>
        </p:nvSpPr>
        <p:spPr>
          <a:xfrm>
            <a:off x="594360" y="1170432"/>
            <a:ext cx="3063240" cy="310896"/>
          </a:xfrm>
          <a:prstGeom prst="roundRect">
            <a:avLst>
              <a:gd name="adj" fmla="val 29412"/>
            </a:avLst>
          </a:prstGeom>
          <a:solidFill>
            <a:srgbClr val="2A1418"/>
          </a:solidFill>
          <a:ln w="12700">
            <a:solidFill>
              <a:srgbClr val="F85149"/>
            </a:solidFill>
            <a:prstDash val="solid"/>
          </a:ln>
        </p:spPr>
      </p:sp>
      <p:sp>
        <p:nvSpPr>
          <p:cNvPr id="14" name="Text 11"/>
          <p:cNvSpPr txBox="1"/>
          <p:nvPr/>
        </p:nvSpPr>
        <p:spPr>
          <a:xfrm>
            <a:off x="594360" y="1170432"/>
            <a:ext cx="3063240" cy="310896"/>
          </a:xfrm>
          <a:prstGeom prst="rect">
            <a:avLst/>
          </a:prstGeom>
          <a:noFill/>
          <a:ln/>
        </p:spPr>
        <p:txBody>
          <a:bodyPr wrap="square" lIns="0" tIns="0" rIns="0" bIns="0" rtlCol="0" anchor="ctr"/>
          <a:lstStyle/>
          <a:p>
            <a:pPr algn="ctr" indent="0" marL="0">
              <a:buNone/>
            </a:pPr>
            <a:r>
              <a:rPr lang="en-US" sz="950" b="1" spc="60" kern="0" dirty="0">
                <a:solidFill>
                  <a:srgbClr val="F85149"/>
                </a:solidFill>
                <a:latin typeface="Arial" pitchFamily="34" charset="0"/>
                <a:ea typeface="Arial" pitchFamily="34" charset="-122"/>
                <a:cs typeface="Arial" pitchFamily="34" charset="-120"/>
              </a:rPr>
              <a:t>PROTOTYPE  ·  FICTIONAL DATA ONLY</a:t>
            </a:r>
            <a:endParaRPr lang="en-US" sz="950" dirty="0"/>
          </a:p>
        </p:txBody>
      </p:sp>
      <p:sp>
        <p:nvSpPr>
          <p:cNvPr id="15" name="Text 12"/>
          <p:cNvSpPr txBox="1"/>
          <p:nvPr/>
        </p:nvSpPr>
        <p:spPr>
          <a:xfrm>
            <a:off x="594360" y="1627632"/>
            <a:ext cx="7132320" cy="91440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ThreatGuard AI</a:t>
            </a:r>
            <a:endParaRPr lang="en-US" sz="5200" dirty="0"/>
          </a:p>
        </p:txBody>
      </p:sp>
      <p:sp>
        <p:nvSpPr>
          <p:cNvPr id="16" name="Text 13"/>
          <p:cNvSpPr txBox="1"/>
          <p:nvPr/>
        </p:nvSpPr>
        <p:spPr>
          <a:xfrm>
            <a:off x="594360" y="2606040"/>
            <a:ext cx="6766560" cy="365760"/>
          </a:xfrm>
          <a:prstGeom prst="rect">
            <a:avLst/>
          </a:prstGeom>
          <a:noFill/>
          <a:ln/>
        </p:spPr>
        <p:txBody>
          <a:bodyPr wrap="square" lIns="0" tIns="0" rIns="0" bIns="0" rtlCol="0" anchor="ctr"/>
          <a:lstStyle/>
          <a:p>
            <a:pPr indent="0" marL="0">
              <a:buNone/>
            </a:pPr>
            <a:r>
              <a:rPr lang="en-US" sz="1800" dirty="0">
                <a:solidFill>
                  <a:srgbClr val="58A6FF"/>
                </a:solidFill>
                <a:latin typeface="Arial" pitchFamily="34" charset="0"/>
                <a:ea typeface="Arial" pitchFamily="34" charset="-122"/>
                <a:cs typeface="Arial" pitchFamily="34" charset="-120"/>
              </a:rPr>
              <a:t>Threat Intelligence Correlation &amp; Alert Prioritisation Assistant</a:t>
            </a:r>
            <a:endParaRPr lang="en-US" sz="1800" dirty="0"/>
          </a:p>
        </p:txBody>
      </p:sp>
      <p:sp>
        <p:nvSpPr>
          <p:cNvPr id="17" name="Text 14"/>
          <p:cNvSpPr txBox="1"/>
          <p:nvPr/>
        </p:nvSpPr>
        <p:spPr>
          <a:xfrm>
            <a:off x="594360" y="3127248"/>
            <a:ext cx="6309360" cy="868680"/>
          </a:xfrm>
          <a:prstGeom prst="rect">
            <a:avLst/>
          </a:prstGeom>
          <a:noFill/>
          <a:ln/>
        </p:spPr>
        <p:txBody>
          <a:bodyPr wrap="square" lIns="0" tIns="0" rIns="0" bIns="0" rtlCol="0" anchor="ctr"/>
          <a:lstStyle/>
          <a:p>
            <a:pPr indent="0" marL="0">
              <a:lnSpc>
                <a:spcPct val="125000"/>
              </a:lnSpc>
              <a:buNone/>
            </a:pPr>
            <a:r>
              <a:rPr lang="en-US" sz="1350" dirty="0">
                <a:solidFill>
                  <a:srgbClr val="8B949E"/>
                </a:solidFill>
                <a:latin typeface="Calibri" pitchFamily="34" charset="0"/>
                <a:ea typeface="Calibri" pitchFamily="34" charset="-122"/>
                <a:cs typeface="Calibri" pitchFamily="34" charset="-120"/>
              </a:rPr>
              <a:t>A browser-based SOC assistant that ingests alerts from multiple feeds, scores them by real business risk, groups related alerts into single incidents, and produces analyst-ready BLUF reports.</a:t>
            </a:r>
            <a:endParaRPr lang="en-US" sz="1350" dirty="0"/>
          </a:p>
        </p:txBody>
      </p:sp>
      <p:sp>
        <p:nvSpPr>
          <p:cNvPr id="18" name="Text 15"/>
          <p:cNvSpPr txBox="1"/>
          <p:nvPr/>
        </p:nvSpPr>
        <p:spPr>
          <a:xfrm>
            <a:off x="594360" y="4114800"/>
            <a:ext cx="6309360" cy="274320"/>
          </a:xfrm>
          <a:prstGeom prst="rect">
            <a:avLst/>
          </a:prstGeom>
          <a:noFill/>
          <a:ln/>
        </p:spPr>
        <p:txBody>
          <a:bodyPr wrap="square" lIns="0" tIns="0" rIns="0" bIns="0" rtlCol="0" anchor="ctr"/>
          <a:lstStyle/>
          <a:p>
            <a:pPr indent="0" marL="0">
              <a:buNone/>
            </a:pPr>
            <a:r>
              <a:rPr lang="en-US" sz="1200" dirty="0">
                <a:solidFill>
                  <a:srgbClr val="6E7B8B"/>
                </a:solidFill>
                <a:latin typeface="Calibri" pitchFamily="34" charset="0"/>
                <a:ea typeface="Calibri" pitchFamily="34" charset="-122"/>
                <a:cs typeface="Calibri" pitchFamily="34" charset="-120"/>
              </a:rPr>
              <a:t>Hackathon Prototype   ·   Version 2.1   ·   No backend, no install</a:t>
            </a:r>
            <a:endParaRPr lang="en-US" sz="1200" dirty="0"/>
          </a:p>
        </p:txBody>
      </p:sp>
      <p:sp>
        <p:nvSpPr>
          <p:cNvPr id="19" name="Shape 16"/>
          <p:cNvSpPr/>
          <p:nvPr/>
        </p:nvSpPr>
        <p:spPr>
          <a:xfrm>
            <a:off x="594360" y="4617720"/>
            <a:ext cx="6035040" cy="777240"/>
          </a:xfrm>
          <a:prstGeom prst="roundRect">
            <a:avLst>
              <a:gd name="adj" fmla="val 7059"/>
            </a:avLst>
          </a:prstGeom>
          <a:solidFill>
            <a:srgbClr val="141B26"/>
          </a:solidFill>
          <a:ln w="12700">
            <a:solidFill>
              <a:srgbClr val="2B3644"/>
            </a:solidFill>
            <a:prstDash val="solid"/>
          </a:ln>
        </p:spPr>
      </p:sp>
      <p:sp>
        <p:nvSpPr>
          <p:cNvPr id="20" name="Shape 17"/>
          <p:cNvSpPr/>
          <p:nvPr/>
        </p:nvSpPr>
        <p:spPr>
          <a:xfrm>
            <a:off x="795528" y="4818888"/>
            <a:ext cx="384048" cy="384048"/>
          </a:xfrm>
          <a:prstGeom prst="ellipse">
            <a:avLst/>
          </a:prstGeom>
          <a:solidFill>
            <a:srgbClr val="58A6FF"/>
          </a:solidFill>
          <a:ln/>
        </p:spPr>
      </p:sp>
      <p:pic>
        <p:nvPicPr>
          <p:cNvPr id="21" name="Image 1" descr="icons/play.png">    </p:cNvPr>
          <p:cNvPicPr>
            <a:picLocks noChangeAspect="1"/>
          </p:cNvPicPr>
          <p:nvPr/>
        </p:nvPicPr>
        <p:blipFill>
          <a:blip r:embed="rId2"/>
          <a:stretch>
            <a:fillRect/>
          </a:stretch>
        </p:blipFill>
        <p:spPr>
          <a:xfrm>
            <a:off x="899221" y="4922581"/>
            <a:ext cx="176662" cy="176662"/>
          </a:xfrm>
          <a:prstGeom prst="rect">
            <a:avLst/>
          </a:prstGeom>
        </p:spPr>
      </p:pic>
      <p:sp>
        <p:nvSpPr>
          <p:cNvPr id="22" name="Text 18"/>
          <p:cNvSpPr txBox="1"/>
          <p:nvPr/>
        </p:nvSpPr>
        <p:spPr>
          <a:xfrm>
            <a:off x="1325880" y="4736592"/>
            <a:ext cx="2743200" cy="201168"/>
          </a:xfrm>
          <a:prstGeom prst="rect">
            <a:avLst/>
          </a:prstGeom>
          <a:noFill/>
          <a:ln/>
        </p:spPr>
        <p:txBody>
          <a:bodyPr wrap="square" lIns="0" tIns="0" rIns="0" bIns="0" rtlCol="0" anchor="ctr"/>
          <a:lstStyle/>
          <a:p>
            <a:pPr indent="0" marL="0">
              <a:buNone/>
            </a:pPr>
            <a:r>
              <a:rPr lang="en-US" sz="850" b="1" spc="120" kern="0" dirty="0">
                <a:solidFill>
                  <a:srgbClr val="8B949E"/>
                </a:solidFill>
                <a:latin typeface="Arial" pitchFamily="34" charset="0"/>
                <a:ea typeface="Arial" pitchFamily="34" charset="-122"/>
                <a:cs typeface="Arial" pitchFamily="34" charset="-120"/>
              </a:rPr>
              <a:t>LIVE DEMO</a:t>
            </a:r>
            <a:endParaRPr lang="en-US" sz="850" dirty="0"/>
          </a:p>
        </p:txBody>
      </p:sp>
      <p:sp>
        <p:nvSpPr>
          <p:cNvPr id="23" name="Text 19"/>
          <p:cNvSpPr txBox="1"/>
          <p:nvPr/>
        </p:nvSpPr>
        <p:spPr>
          <a:xfrm>
            <a:off x="1325880" y="4956048"/>
            <a:ext cx="5120640" cy="320040"/>
          </a:xfrm>
          <a:prstGeom prst="rect">
            <a:avLst/>
          </a:prstGeom>
          <a:noFill/>
          <a:ln/>
        </p:spPr>
        <p:txBody>
          <a:bodyPr wrap="square" lIns="0" tIns="0" rIns="0" bIns="0" rtlCol="0" anchor="ctr"/>
          <a:lstStyle/>
          <a:p>
            <a:pPr indent="0" marL="0">
              <a:buNone/>
            </a:pPr>
            <a:r>
              <a:rPr lang="en-US" sz="1400" dirty="0">
                <a:solidFill>
                  <a:srgbClr val="58A6FF"/>
                </a:solidFill>
                <a:latin typeface="Courier New" pitchFamily="34" charset="0"/>
                <a:ea typeface="Courier New" pitchFamily="34" charset="-122"/>
                <a:cs typeface="Courier New" pitchFamily="34" charset="-120"/>
              </a:rPr>
              <a:t>magical-arithmetic-3db1c2.netlify.app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19"/>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50292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The Problem: Signal Buried in Noise</a:t>
            </a:r>
            <a:endParaRPr lang="en-US" sz="3200" dirty="0"/>
          </a:p>
        </p:txBody>
      </p:sp>
      <p:sp>
        <p:nvSpPr>
          <p:cNvPr id="3" name="Text 1"/>
          <p:cNvSpPr txBox="1"/>
          <p:nvPr/>
        </p:nvSpPr>
        <p:spPr>
          <a:xfrm>
            <a:off x="594360" y="932688"/>
            <a:ext cx="11002975" cy="292608"/>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Security teams don't lack alert data. They lack a defensible way to rank it.</a:t>
            </a:r>
            <a:endParaRPr lang="en-US" sz="1350" dirty="0"/>
          </a:p>
        </p:txBody>
      </p:sp>
      <p:sp>
        <p:nvSpPr>
          <p:cNvPr id="4" name="Shape 2"/>
          <p:cNvSpPr/>
          <p:nvPr/>
        </p:nvSpPr>
        <p:spPr>
          <a:xfrm>
            <a:off x="594360" y="1600200"/>
            <a:ext cx="3454298" cy="2377440"/>
          </a:xfrm>
          <a:prstGeom prst="roundRect">
            <a:avLst>
              <a:gd name="adj" fmla="val 2308"/>
            </a:avLst>
          </a:prstGeom>
          <a:solidFill>
            <a:srgbClr val="141B26"/>
          </a:solidFill>
          <a:ln w="12700">
            <a:solidFill>
              <a:srgbClr val="2B3644"/>
            </a:solidFill>
            <a:prstDash val="solid"/>
          </a:ln>
        </p:spPr>
      </p:sp>
      <p:sp>
        <p:nvSpPr>
          <p:cNvPr id="5" name="Shape 3"/>
          <p:cNvSpPr/>
          <p:nvPr/>
        </p:nvSpPr>
        <p:spPr>
          <a:xfrm>
            <a:off x="868680" y="1892808"/>
            <a:ext cx="512064" cy="512064"/>
          </a:xfrm>
          <a:prstGeom prst="ellipse">
            <a:avLst/>
          </a:prstGeom>
          <a:solidFill>
            <a:srgbClr val="F85149"/>
          </a:solidFill>
          <a:ln/>
        </p:spPr>
      </p:sp>
      <p:pic>
        <p:nvPicPr>
          <p:cNvPr id="6" name="Image 0" descr="icons/bell.png">    </p:cNvPr>
          <p:cNvPicPr>
            <a:picLocks noChangeAspect="1"/>
          </p:cNvPicPr>
          <p:nvPr/>
        </p:nvPicPr>
        <p:blipFill>
          <a:blip r:embed="rId1"/>
          <a:stretch>
            <a:fillRect/>
          </a:stretch>
        </p:blipFill>
        <p:spPr>
          <a:xfrm>
            <a:off x="1006937" y="2031065"/>
            <a:ext cx="235549" cy="235549"/>
          </a:xfrm>
          <a:prstGeom prst="rect">
            <a:avLst/>
          </a:prstGeom>
        </p:spPr>
      </p:pic>
      <p:sp>
        <p:nvSpPr>
          <p:cNvPr id="7" name="Text 4"/>
          <p:cNvSpPr txBox="1"/>
          <p:nvPr/>
        </p:nvSpPr>
        <p:spPr>
          <a:xfrm>
            <a:off x="868680" y="2532888"/>
            <a:ext cx="2905658" cy="292608"/>
          </a:xfrm>
          <a:prstGeom prst="rect">
            <a:avLst/>
          </a:prstGeom>
          <a:noFill/>
          <a:ln/>
        </p:spPr>
        <p:txBody>
          <a:bodyPr wrap="square" lIns="0" tIns="0" rIns="0" bIns="0" rtlCol="0" anchor="ctr"/>
          <a:lstStyle/>
          <a:p>
            <a:pPr indent="0" marL="0">
              <a:buNone/>
            </a:pPr>
            <a:r>
              <a:rPr lang="en-US" sz="1550" b="1" dirty="0">
                <a:solidFill>
                  <a:srgbClr val="E6EDF3"/>
                </a:solidFill>
                <a:latin typeface="Arial" pitchFamily="34" charset="0"/>
                <a:ea typeface="Arial" pitchFamily="34" charset="-122"/>
                <a:cs typeface="Arial" pitchFamily="34" charset="-120"/>
              </a:rPr>
              <a:t>Alert Volume</a:t>
            </a:r>
            <a:endParaRPr lang="en-US" sz="1550" dirty="0"/>
          </a:p>
        </p:txBody>
      </p:sp>
      <p:sp>
        <p:nvSpPr>
          <p:cNvPr id="8" name="Text 5"/>
          <p:cNvSpPr txBox="1"/>
          <p:nvPr/>
        </p:nvSpPr>
        <p:spPr>
          <a:xfrm>
            <a:off x="868680" y="2898648"/>
            <a:ext cx="2905658" cy="914400"/>
          </a:xfrm>
          <a:prstGeom prst="rect">
            <a:avLst/>
          </a:prstGeom>
          <a:noFill/>
          <a:ln/>
        </p:spPr>
        <p:txBody>
          <a:bodyPr wrap="square" lIns="0" tIns="0" rIns="0" bIns="0" rtlCol="0" anchor="ctr"/>
          <a:lstStyle/>
          <a:p>
            <a:pPr indent="0" marL="0">
              <a:lnSpc>
                <a:spcPct val="120000"/>
              </a:lnSpc>
              <a:buNone/>
            </a:pPr>
            <a:r>
              <a:rPr lang="en-US" sz="1200" dirty="0">
                <a:solidFill>
                  <a:srgbClr val="8B949E"/>
                </a:solidFill>
                <a:latin typeface="Calibri" pitchFamily="34" charset="0"/>
                <a:ea typeface="Calibri" pitchFamily="34" charset="-122"/>
                <a:cs typeface="Calibri" pitchFamily="34" charset="-120"/>
              </a:rPr>
              <a:t>SIEM, cyber sensors, satellite feeds and intelligence reports each raise their own alerts. Nothing merges them, so a single intrusion arrives as a dozen unrelated rows.</a:t>
            </a:r>
            <a:endParaRPr lang="en-US" sz="1200" dirty="0"/>
          </a:p>
        </p:txBody>
      </p:sp>
      <p:sp>
        <p:nvSpPr>
          <p:cNvPr id="9" name="Shape 6"/>
          <p:cNvSpPr/>
          <p:nvPr/>
        </p:nvSpPr>
        <p:spPr>
          <a:xfrm>
            <a:off x="4368698" y="1600200"/>
            <a:ext cx="3454298" cy="2377440"/>
          </a:xfrm>
          <a:prstGeom prst="roundRect">
            <a:avLst>
              <a:gd name="adj" fmla="val 2308"/>
            </a:avLst>
          </a:prstGeom>
          <a:solidFill>
            <a:srgbClr val="141B26"/>
          </a:solidFill>
          <a:ln w="12700">
            <a:solidFill>
              <a:srgbClr val="2B3644"/>
            </a:solidFill>
            <a:prstDash val="solid"/>
          </a:ln>
        </p:spPr>
      </p:sp>
      <p:sp>
        <p:nvSpPr>
          <p:cNvPr id="10" name="Shape 7"/>
          <p:cNvSpPr/>
          <p:nvPr/>
        </p:nvSpPr>
        <p:spPr>
          <a:xfrm>
            <a:off x="4643018" y="1892808"/>
            <a:ext cx="512064" cy="512064"/>
          </a:xfrm>
          <a:prstGeom prst="ellipse">
            <a:avLst/>
          </a:prstGeom>
          <a:solidFill>
            <a:srgbClr val="E3B341"/>
          </a:solidFill>
          <a:ln/>
        </p:spPr>
      </p:sp>
      <p:pic>
        <p:nvPicPr>
          <p:cNvPr id="11" name="Image 1" descr="icons/funnel.png">    </p:cNvPr>
          <p:cNvPicPr>
            <a:picLocks noChangeAspect="1"/>
          </p:cNvPicPr>
          <p:nvPr/>
        </p:nvPicPr>
        <p:blipFill>
          <a:blip r:embed="rId2"/>
          <a:stretch>
            <a:fillRect/>
          </a:stretch>
        </p:blipFill>
        <p:spPr>
          <a:xfrm>
            <a:off x="4781276" y="2031065"/>
            <a:ext cx="235549" cy="235549"/>
          </a:xfrm>
          <a:prstGeom prst="rect">
            <a:avLst/>
          </a:prstGeom>
        </p:spPr>
      </p:pic>
      <p:sp>
        <p:nvSpPr>
          <p:cNvPr id="12" name="Text 8"/>
          <p:cNvSpPr txBox="1"/>
          <p:nvPr/>
        </p:nvSpPr>
        <p:spPr>
          <a:xfrm>
            <a:off x="4643018" y="2532888"/>
            <a:ext cx="2905658" cy="292608"/>
          </a:xfrm>
          <a:prstGeom prst="rect">
            <a:avLst/>
          </a:prstGeom>
          <a:noFill/>
          <a:ln/>
        </p:spPr>
        <p:txBody>
          <a:bodyPr wrap="square" lIns="0" tIns="0" rIns="0" bIns="0" rtlCol="0" anchor="ctr"/>
          <a:lstStyle/>
          <a:p>
            <a:pPr indent="0" marL="0">
              <a:buNone/>
            </a:pPr>
            <a:r>
              <a:rPr lang="en-US" sz="1550" b="1" dirty="0">
                <a:solidFill>
                  <a:srgbClr val="E6EDF3"/>
                </a:solidFill>
                <a:latin typeface="Arial" pitchFamily="34" charset="0"/>
                <a:ea typeface="Arial" pitchFamily="34" charset="-122"/>
                <a:cs typeface="Arial" pitchFamily="34" charset="-120"/>
              </a:rPr>
              <a:t>False-Positive Load</a:t>
            </a:r>
            <a:endParaRPr lang="en-US" sz="1550" dirty="0"/>
          </a:p>
        </p:txBody>
      </p:sp>
      <p:sp>
        <p:nvSpPr>
          <p:cNvPr id="13" name="Text 9"/>
          <p:cNvSpPr txBox="1"/>
          <p:nvPr/>
        </p:nvSpPr>
        <p:spPr>
          <a:xfrm>
            <a:off x="4643018" y="2898648"/>
            <a:ext cx="2905658" cy="914400"/>
          </a:xfrm>
          <a:prstGeom prst="rect">
            <a:avLst/>
          </a:prstGeom>
          <a:noFill/>
          <a:ln/>
        </p:spPr>
        <p:txBody>
          <a:bodyPr wrap="square" lIns="0" tIns="0" rIns="0" bIns="0" rtlCol="0" anchor="ctr"/>
          <a:lstStyle/>
          <a:p>
            <a:pPr indent="0" marL="0">
              <a:lnSpc>
                <a:spcPct val="120000"/>
              </a:lnSpc>
              <a:buNone/>
            </a:pPr>
            <a:r>
              <a:rPr lang="en-US" sz="1200" dirty="0">
                <a:solidFill>
                  <a:srgbClr val="8B949E"/>
                </a:solidFill>
                <a:latin typeface="Calibri" pitchFamily="34" charset="0"/>
                <a:ea typeface="Calibri" pitchFamily="34" charset="-122"/>
                <a:cs typeface="Calibri" pitchFamily="34" charset="-120"/>
              </a:rPr>
              <a:t>A large share of what reaches the queue is benign. Analysts still open every item, because nothing tells them which ones are safe to skip.</a:t>
            </a:r>
            <a:endParaRPr lang="en-US" sz="1200" dirty="0"/>
          </a:p>
        </p:txBody>
      </p:sp>
      <p:sp>
        <p:nvSpPr>
          <p:cNvPr id="14" name="Shape 10"/>
          <p:cNvSpPr/>
          <p:nvPr/>
        </p:nvSpPr>
        <p:spPr>
          <a:xfrm>
            <a:off x="8143037" y="1600200"/>
            <a:ext cx="3454298" cy="2377440"/>
          </a:xfrm>
          <a:prstGeom prst="roundRect">
            <a:avLst>
              <a:gd name="adj" fmla="val 2308"/>
            </a:avLst>
          </a:prstGeom>
          <a:solidFill>
            <a:srgbClr val="141B26"/>
          </a:solidFill>
          <a:ln w="12700">
            <a:solidFill>
              <a:srgbClr val="2B3644"/>
            </a:solidFill>
            <a:prstDash val="solid"/>
          </a:ln>
        </p:spPr>
      </p:sp>
      <p:sp>
        <p:nvSpPr>
          <p:cNvPr id="15" name="Shape 11"/>
          <p:cNvSpPr/>
          <p:nvPr/>
        </p:nvSpPr>
        <p:spPr>
          <a:xfrm>
            <a:off x="8417357" y="1892808"/>
            <a:ext cx="512064" cy="512064"/>
          </a:xfrm>
          <a:prstGeom prst="ellipse">
            <a:avLst/>
          </a:prstGeom>
          <a:solidFill>
            <a:srgbClr val="388BFD"/>
          </a:solidFill>
          <a:ln/>
        </p:spPr>
      </p:sp>
      <p:pic>
        <p:nvPicPr>
          <p:cNvPr id="16" name="Image 2" descr="icons/silo.png">    </p:cNvPr>
          <p:cNvPicPr>
            <a:picLocks noChangeAspect="1"/>
          </p:cNvPicPr>
          <p:nvPr/>
        </p:nvPicPr>
        <p:blipFill>
          <a:blip r:embed="rId3"/>
          <a:stretch>
            <a:fillRect/>
          </a:stretch>
        </p:blipFill>
        <p:spPr>
          <a:xfrm>
            <a:off x="8555614" y="2031065"/>
            <a:ext cx="235549" cy="235549"/>
          </a:xfrm>
          <a:prstGeom prst="rect">
            <a:avLst/>
          </a:prstGeom>
        </p:spPr>
      </p:pic>
      <p:sp>
        <p:nvSpPr>
          <p:cNvPr id="17" name="Text 12"/>
          <p:cNvSpPr txBox="1"/>
          <p:nvPr/>
        </p:nvSpPr>
        <p:spPr>
          <a:xfrm>
            <a:off x="8417357" y="2532888"/>
            <a:ext cx="2905658" cy="292608"/>
          </a:xfrm>
          <a:prstGeom prst="rect">
            <a:avLst/>
          </a:prstGeom>
          <a:noFill/>
          <a:ln/>
        </p:spPr>
        <p:txBody>
          <a:bodyPr wrap="square" lIns="0" tIns="0" rIns="0" bIns="0" rtlCol="0" anchor="ctr"/>
          <a:lstStyle/>
          <a:p>
            <a:pPr indent="0" marL="0">
              <a:buNone/>
            </a:pPr>
            <a:r>
              <a:rPr lang="en-US" sz="1550" b="1" dirty="0">
                <a:solidFill>
                  <a:srgbClr val="E6EDF3"/>
                </a:solidFill>
                <a:latin typeface="Arial" pitchFamily="34" charset="0"/>
                <a:ea typeface="Arial" pitchFamily="34" charset="-122"/>
                <a:cs typeface="Arial" pitchFamily="34" charset="-120"/>
              </a:rPr>
              <a:t>No Business Context</a:t>
            </a:r>
            <a:endParaRPr lang="en-US" sz="1550" dirty="0"/>
          </a:p>
        </p:txBody>
      </p:sp>
      <p:sp>
        <p:nvSpPr>
          <p:cNvPr id="18" name="Text 13"/>
          <p:cNvSpPr txBox="1"/>
          <p:nvPr/>
        </p:nvSpPr>
        <p:spPr>
          <a:xfrm>
            <a:off x="8417357" y="2898648"/>
            <a:ext cx="2905658" cy="914400"/>
          </a:xfrm>
          <a:prstGeom prst="rect">
            <a:avLst/>
          </a:prstGeom>
          <a:noFill/>
          <a:ln/>
        </p:spPr>
        <p:txBody>
          <a:bodyPr wrap="square" lIns="0" tIns="0" rIns="0" bIns="0" rtlCol="0" anchor="ctr"/>
          <a:lstStyle/>
          <a:p>
            <a:pPr indent="0" marL="0">
              <a:lnSpc>
                <a:spcPct val="120000"/>
              </a:lnSpc>
              <a:buNone/>
            </a:pPr>
            <a:r>
              <a:rPr lang="en-US" sz="1200" dirty="0">
                <a:solidFill>
                  <a:srgbClr val="8B949E"/>
                </a:solidFill>
                <a:latin typeface="Calibri" pitchFamily="34" charset="0"/>
                <a:ea typeface="Calibri" pitchFamily="34" charset="-122"/>
                <a:cs typeface="Calibri" pitchFamily="34" charset="-120"/>
              </a:rPr>
              <a:t>Severity is assigned by the tool, not by what the asset is worth. A "High" on a test box outranks a "Medium" on a production domain controller.</a:t>
            </a:r>
            <a:endParaRPr lang="en-US" sz="1200" dirty="0"/>
          </a:p>
        </p:txBody>
      </p:sp>
      <p:sp>
        <p:nvSpPr>
          <p:cNvPr id="19" name="Shape 14"/>
          <p:cNvSpPr/>
          <p:nvPr/>
        </p:nvSpPr>
        <p:spPr>
          <a:xfrm>
            <a:off x="594360" y="4279392"/>
            <a:ext cx="11002975" cy="1371600"/>
          </a:xfrm>
          <a:prstGeom prst="roundRect">
            <a:avLst>
              <a:gd name="adj" fmla="val 4000"/>
            </a:avLst>
          </a:prstGeom>
          <a:solidFill>
            <a:srgbClr val="1B2431"/>
          </a:solidFill>
          <a:ln w="12700">
            <a:solidFill>
              <a:srgbClr val="2B3644"/>
            </a:solidFill>
            <a:prstDash val="solid"/>
          </a:ln>
        </p:spPr>
      </p:sp>
      <p:sp>
        <p:nvSpPr>
          <p:cNvPr id="20" name="Text 15"/>
          <p:cNvSpPr txBox="1"/>
          <p:nvPr/>
        </p:nvSpPr>
        <p:spPr>
          <a:xfrm>
            <a:off x="914400" y="4498848"/>
            <a:ext cx="2743200" cy="228600"/>
          </a:xfrm>
          <a:prstGeom prst="rect">
            <a:avLst/>
          </a:prstGeom>
          <a:noFill/>
          <a:ln/>
        </p:spPr>
        <p:txBody>
          <a:bodyPr wrap="square" lIns="0" tIns="0" rIns="0" bIns="0" rtlCol="0" anchor="ctr"/>
          <a:lstStyle/>
          <a:p>
            <a:pPr indent="0" marL="0">
              <a:buNone/>
            </a:pPr>
            <a:r>
              <a:rPr lang="en-US" sz="950" b="1" spc="120" kern="0" dirty="0">
                <a:solidFill>
                  <a:srgbClr val="58A6FF"/>
                </a:solidFill>
                <a:latin typeface="Arial" pitchFamily="34" charset="0"/>
                <a:ea typeface="Arial" pitchFamily="34" charset="-122"/>
                <a:cs typeface="Arial" pitchFamily="34" charset="-120"/>
              </a:rPr>
              <a:t>NET EFFECT</a:t>
            </a:r>
            <a:endParaRPr lang="en-US" sz="950" dirty="0"/>
          </a:p>
        </p:txBody>
      </p:sp>
      <p:sp>
        <p:nvSpPr>
          <p:cNvPr id="21" name="Text 16"/>
          <p:cNvSpPr txBox="1"/>
          <p:nvPr/>
        </p:nvSpPr>
        <p:spPr>
          <a:xfrm>
            <a:off x="914400" y="4791456"/>
            <a:ext cx="10362895" cy="685800"/>
          </a:xfrm>
          <a:prstGeom prst="rect">
            <a:avLst/>
          </a:prstGeom>
          <a:noFill/>
          <a:ln/>
        </p:spPr>
        <p:txBody>
          <a:bodyPr wrap="square" lIns="0" tIns="0" rIns="0" bIns="0" rtlCol="0" anchor="ctr"/>
          <a:lstStyle/>
          <a:p>
            <a:pPr indent="0" marL="0">
              <a:lnSpc>
                <a:spcPct val="120000"/>
              </a:lnSpc>
              <a:buNone/>
            </a:pPr>
            <a:r>
              <a:rPr lang="en-US" sz="1500" i="1" dirty="0">
                <a:solidFill>
                  <a:srgbClr val="E6EDF3"/>
                </a:solidFill>
                <a:latin typeface="Calibri" pitchFamily="34" charset="0"/>
                <a:ea typeface="Calibri" pitchFamily="34" charset="-122"/>
                <a:cs typeface="Calibri" pitchFamily="34" charset="-120"/>
              </a:rPr>
              <a:t>Triage becomes manual, slow and inconsistent — and the alert that actually mattered is usually identified after the incident, during the post-mortem.</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19"/>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50292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ThreatGuard AI Does</a:t>
            </a:r>
            <a:endParaRPr lang="en-US" sz="3200" dirty="0"/>
          </a:p>
        </p:txBody>
      </p:sp>
      <p:sp>
        <p:nvSpPr>
          <p:cNvPr id="3" name="Text 1"/>
          <p:cNvSpPr txBox="1"/>
          <p:nvPr/>
        </p:nvSpPr>
        <p:spPr>
          <a:xfrm>
            <a:off x="594360" y="932688"/>
            <a:ext cx="11002975" cy="292608"/>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Twelve modules, one workflow — raw alert in, analyst-ready report out.</a:t>
            </a:r>
            <a:endParaRPr lang="en-US" sz="1350" dirty="0"/>
          </a:p>
        </p:txBody>
      </p:sp>
      <p:sp>
        <p:nvSpPr>
          <p:cNvPr id="4" name="Shape 2"/>
          <p:cNvSpPr/>
          <p:nvPr/>
        </p:nvSpPr>
        <p:spPr>
          <a:xfrm>
            <a:off x="594360" y="1572768"/>
            <a:ext cx="3454298" cy="1810512"/>
          </a:xfrm>
          <a:prstGeom prst="roundRect">
            <a:avLst>
              <a:gd name="adj" fmla="val 3030"/>
            </a:avLst>
          </a:prstGeom>
          <a:solidFill>
            <a:srgbClr val="141B26"/>
          </a:solidFill>
          <a:ln w="12700">
            <a:solidFill>
              <a:srgbClr val="2B3644"/>
            </a:solidFill>
            <a:prstDash val="solid"/>
          </a:ln>
        </p:spPr>
      </p:sp>
      <p:sp>
        <p:nvSpPr>
          <p:cNvPr id="5" name="Shape 3"/>
          <p:cNvSpPr/>
          <p:nvPr/>
        </p:nvSpPr>
        <p:spPr>
          <a:xfrm>
            <a:off x="850392" y="1828800"/>
            <a:ext cx="438912" cy="438912"/>
          </a:xfrm>
          <a:prstGeom prst="ellipse">
            <a:avLst/>
          </a:prstGeom>
          <a:solidFill>
            <a:srgbClr val="58A6FF"/>
          </a:solidFill>
          <a:ln/>
        </p:spPr>
      </p:sp>
      <p:pic>
        <p:nvPicPr>
          <p:cNvPr id="6" name="Image 0" descr="icons/upload.png">    </p:cNvPr>
          <p:cNvPicPr>
            <a:picLocks noChangeAspect="1"/>
          </p:cNvPicPr>
          <p:nvPr/>
        </p:nvPicPr>
        <p:blipFill>
          <a:blip r:embed="rId1"/>
          <a:stretch>
            <a:fillRect/>
          </a:stretch>
        </p:blipFill>
        <p:spPr>
          <a:xfrm>
            <a:off x="968898" y="1947306"/>
            <a:ext cx="201900" cy="201900"/>
          </a:xfrm>
          <a:prstGeom prst="rect">
            <a:avLst/>
          </a:prstGeom>
        </p:spPr>
      </p:pic>
      <p:sp>
        <p:nvSpPr>
          <p:cNvPr id="7" name="Text 4"/>
          <p:cNvSpPr txBox="1"/>
          <p:nvPr/>
        </p:nvSpPr>
        <p:spPr>
          <a:xfrm>
            <a:off x="1399032" y="1847088"/>
            <a:ext cx="2402738" cy="41148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Unified Intake</a:t>
            </a:r>
            <a:endParaRPr lang="en-US" sz="1400" dirty="0"/>
          </a:p>
        </p:txBody>
      </p:sp>
      <p:sp>
        <p:nvSpPr>
          <p:cNvPr id="8" name="Text 5"/>
          <p:cNvSpPr txBox="1"/>
          <p:nvPr/>
        </p:nvSpPr>
        <p:spPr>
          <a:xfrm>
            <a:off x="850392" y="2395728"/>
            <a:ext cx="2942234" cy="841248"/>
          </a:xfrm>
          <a:prstGeom prst="rect">
            <a:avLst/>
          </a:prstGeom>
          <a:noFill/>
          <a:ln/>
        </p:spPr>
        <p:txBody>
          <a:bodyPr wrap="square" lIns="0" tIns="0" rIns="0" bIns="0" rtlCol="0" anchor="ctr"/>
          <a:lstStyle/>
          <a:p>
            <a:pPr indent="0" marL="0">
              <a:lnSpc>
                <a:spcPct val="118000"/>
              </a:lnSpc>
              <a:buNone/>
            </a:pPr>
            <a:r>
              <a:rPr lang="en-US" sz="1150" dirty="0">
                <a:solidFill>
                  <a:srgbClr val="8B949E"/>
                </a:solidFill>
                <a:latin typeface="Calibri" pitchFamily="34" charset="0"/>
                <a:ea typeface="Calibri" pitchFamily="34" charset="-122"/>
                <a:cs typeface="Calibri" pitchFamily="34" charset="-120"/>
              </a:rPr>
              <a:t>Manual entry form, or JSON / CSV import from SIEM, cyber sensors, satellite feeds and intel reports.</a:t>
            </a:r>
            <a:endParaRPr lang="en-US" sz="1150" dirty="0"/>
          </a:p>
        </p:txBody>
      </p:sp>
      <p:sp>
        <p:nvSpPr>
          <p:cNvPr id="9" name="Shape 6"/>
          <p:cNvSpPr/>
          <p:nvPr/>
        </p:nvSpPr>
        <p:spPr>
          <a:xfrm>
            <a:off x="4368698" y="1572768"/>
            <a:ext cx="3454298" cy="1810512"/>
          </a:xfrm>
          <a:prstGeom prst="roundRect">
            <a:avLst>
              <a:gd name="adj" fmla="val 3030"/>
            </a:avLst>
          </a:prstGeom>
          <a:solidFill>
            <a:srgbClr val="141B26"/>
          </a:solidFill>
          <a:ln w="12700">
            <a:solidFill>
              <a:srgbClr val="2B3644"/>
            </a:solidFill>
            <a:prstDash val="solid"/>
          </a:ln>
        </p:spPr>
      </p:sp>
      <p:sp>
        <p:nvSpPr>
          <p:cNvPr id="10" name="Shape 7"/>
          <p:cNvSpPr/>
          <p:nvPr/>
        </p:nvSpPr>
        <p:spPr>
          <a:xfrm>
            <a:off x="4624730" y="1828800"/>
            <a:ext cx="438912" cy="438912"/>
          </a:xfrm>
          <a:prstGeom prst="ellipse">
            <a:avLst/>
          </a:prstGeom>
          <a:solidFill>
            <a:srgbClr val="E3B341"/>
          </a:solidFill>
          <a:ln/>
        </p:spPr>
      </p:sp>
      <p:pic>
        <p:nvPicPr>
          <p:cNvPr id="11" name="Image 1" descr="icons/bolt.png">    </p:cNvPr>
          <p:cNvPicPr>
            <a:picLocks noChangeAspect="1"/>
          </p:cNvPicPr>
          <p:nvPr/>
        </p:nvPicPr>
        <p:blipFill>
          <a:blip r:embed="rId2"/>
          <a:stretch>
            <a:fillRect/>
          </a:stretch>
        </p:blipFill>
        <p:spPr>
          <a:xfrm>
            <a:off x="4743237" y="1947306"/>
            <a:ext cx="201900" cy="201900"/>
          </a:xfrm>
          <a:prstGeom prst="rect">
            <a:avLst/>
          </a:prstGeom>
        </p:spPr>
      </p:pic>
      <p:sp>
        <p:nvSpPr>
          <p:cNvPr id="12" name="Text 8"/>
          <p:cNvSpPr txBox="1"/>
          <p:nvPr/>
        </p:nvSpPr>
        <p:spPr>
          <a:xfrm>
            <a:off x="5173370" y="1847088"/>
            <a:ext cx="2402738" cy="41148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Risk Scoring</a:t>
            </a:r>
            <a:endParaRPr lang="en-US" sz="1400" dirty="0"/>
          </a:p>
        </p:txBody>
      </p:sp>
      <p:sp>
        <p:nvSpPr>
          <p:cNvPr id="13" name="Text 9"/>
          <p:cNvSpPr txBox="1"/>
          <p:nvPr/>
        </p:nvSpPr>
        <p:spPr>
          <a:xfrm>
            <a:off x="4624730" y="2395728"/>
            <a:ext cx="2942234" cy="841248"/>
          </a:xfrm>
          <a:prstGeom prst="rect">
            <a:avLst/>
          </a:prstGeom>
          <a:noFill/>
          <a:ln/>
        </p:spPr>
        <p:txBody>
          <a:bodyPr wrap="square" lIns="0" tIns="0" rIns="0" bIns="0" rtlCol="0" anchor="ctr"/>
          <a:lstStyle/>
          <a:p>
            <a:pPr indent="0" marL="0">
              <a:lnSpc>
                <a:spcPct val="118000"/>
              </a:lnSpc>
              <a:buNone/>
            </a:pPr>
            <a:r>
              <a:rPr lang="en-US" sz="1150" dirty="0">
                <a:solidFill>
                  <a:srgbClr val="8B949E"/>
                </a:solidFill>
                <a:latin typeface="Calibri" pitchFamily="34" charset="0"/>
                <a:ea typeface="Calibri" pitchFamily="34" charset="-122"/>
                <a:cs typeface="Calibri" pitchFamily="34" charset="-120"/>
              </a:rPr>
              <a:t>Every alert gets a 0–100 score from severity, confidence and asset criticality, then a P1–P4 priority band.</a:t>
            </a:r>
            <a:endParaRPr lang="en-US" sz="1150" dirty="0"/>
          </a:p>
        </p:txBody>
      </p:sp>
      <p:sp>
        <p:nvSpPr>
          <p:cNvPr id="14" name="Shape 10"/>
          <p:cNvSpPr/>
          <p:nvPr/>
        </p:nvSpPr>
        <p:spPr>
          <a:xfrm>
            <a:off x="8143037" y="1572768"/>
            <a:ext cx="3454298" cy="1810512"/>
          </a:xfrm>
          <a:prstGeom prst="roundRect">
            <a:avLst>
              <a:gd name="adj" fmla="val 3030"/>
            </a:avLst>
          </a:prstGeom>
          <a:solidFill>
            <a:srgbClr val="141B26"/>
          </a:solidFill>
          <a:ln w="12700">
            <a:solidFill>
              <a:srgbClr val="2B3644"/>
            </a:solidFill>
            <a:prstDash val="solid"/>
          </a:ln>
        </p:spPr>
      </p:sp>
      <p:sp>
        <p:nvSpPr>
          <p:cNvPr id="15" name="Shape 11"/>
          <p:cNvSpPr/>
          <p:nvPr/>
        </p:nvSpPr>
        <p:spPr>
          <a:xfrm>
            <a:off x="8399069" y="1828800"/>
            <a:ext cx="438912" cy="438912"/>
          </a:xfrm>
          <a:prstGeom prst="ellipse">
            <a:avLst/>
          </a:prstGeom>
          <a:solidFill>
            <a:srgbClr val="388BFD"/>
          </a:solidFill>
          <a:ln/>
        </p:spPr>
      </p:sp>
      <p:pic>
        <p:nvPicPr>
          <p:cNvPr id="16" name="Image 2" descr="icons/silo.png">    </p:cNvPr>
          <p:cNvPicPr>
            <a:picLocks noChangeAspect="1"/>
          </p:cNvPicPr>
          <p:nvPr/>
        </p:nvPicPr>
        <p:blipFill>
          <a:blip r:embed="rId3"/>
          <a:stretch>
            <a:fillRect/>
          </a:stretch>
        </p:blipFill>
        <p:spPr>
          <a:xfrm>
            <a:off x="8517575" y="1947306"/>
            <a:ext cx="201900" cy="201900"/>
          </a:xfrm>
          <a:prstGeom prst="rect">
            <a:avLst/>
          </a:prstGeom>
        </p:spPr>
      </p:pic>
      <p:sp>
        <p:nvSpPr>
          <p:cNvPr id="17" name="Text 12"/>
          <p:cNvSpPr txBox="1"/>
          <p:nvPr/>
        </p:nvSpPr>
        <p:spPr>
          <a:xfrm>
            <a:off x="8947709" y="1847088"/>
            <a:ext cx="2402738" cy="41148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Correlation Engine</a:t>
            </a:r>
            <a:endParaRPr lang="en-US" sz="1400" dirty="0"/>
          </a:p>
        </p:txBody>
      </p:sp>
      <p:sp>
        <p:nvSpPr>
          <p:cNvPr id="18" name="Text 13"/>
          <p:cNvSpPr txBox="1"/>
          <p:nvPr/>
        </p:nvSpPr>
        <p:spPr>
          <a:xfrm>
            <a:off x="8399069" y="2395728"/>
            <a:ext cx="2942234" cy="841248"/>
          </a:xfrm>
          <a:prstGeom prst="rect">
            <a:avLst/>
          </a:prstGeom>
          <a:noFill/>
          <a:ln/>
        </p:spPr>
        <p:txBody>
          <a:bodyPr wrap="square" lIns="0" tIns="0" rIns="0" bIns="0" rtlCol="0" anchor="ctr"/>
          <a:lstStyle/>
          <a:p>
            <a:pPr indent="0" marL="0">
              <a:lnSpc>
                <a:spcPct val="118000"/>
              </a:lnSpc>
              <a:buNone/>
            </a:pPr>
            <a:r>
              <a:rPr lang="en-US" sz="1150" dirty="0">
                <a:solidFill>
                  <a:srgbClr val="8B949E"/>
                </a:solidFill>
                <a:latin typeface="Calibri" pitchFamily="34" charset="0"/>
                <a:ea typeface="Calibri" pitchFamily="34" charset="-122"/>
                <a:cs typeface="Calibri" pitchFamily="34" charset="-120"/>
              </a:rPr>
              <a:t>Alerts sharing an IP, domain, file hash or asset inside a time window collapse into one incident.</a:t>
            </a:r>
            <a:endParaRPr lang="en-US" sz="1150" dirty="0"/>
          </a:p>
        </p:txBody>
      </p:sp>
      <p:sp>
        <p:nvSpPr>
          <p:cNvPr id="19" name="Shape 14"/>
          <p:cNvSpPr/>
          <p:nvPr/>
        </p:nvSpPr>
        <p:spPr>
          <a:xfrm>
            <a:off x="594360" y="3675888"/>
            <a:ext cx="3454298" cy="1810512"/>
          </a:xfrm>
          <a:prstGeom prst="roundRect">
            <a:avLst>
              <a:gd name="adj" fmla="val 3030"/>
            </a:avLst>
          </a:prstGeom>
          <a:solidFill>
            <a:srgbClr val="141B26"/>
          </a:solidFill>
          <a:ln w="12700">
            <a:solidFill>
              <a:srgbClr val="2B3644"/>
            </a:solidFill>
            <a:prstDash val="solid"/>
          </a:ln>
        </p:spPr>
      </p:sp>
      <p:sp>
        <p:nvSpPr>
          <p:cNvPr id="20" name="Shape 15"/>
          <p:cNvSpPr/>
          <p:nvPr/>
        </p:nvSpPr>
        <p:spPr>
          <a:xfrm>
            <a:off x="850392" y="3931920"/>
            <a:ext cx="438912" cy="438912"/>
          </a:xfrm>
          <a:prstGeom prst="ellipse">
            <a:avLst/>
          </a:prstGeom>
          <a:solidFill>
            <a:srgbClr val="3FB950"/>
          </a:solidFill>
          <a:ln/>
        </p:spPr>
      </p:sp>
      <p:pic>
        <p:nvPicPr>
          <p:cNvPr id="21" name="Image 3" descr="icons/patch.png">    </p:cNvPr>
          <p:cNvPicPr>
            <a:picLocks noChangeAspect="1"/>
          </p:cNvPicPr>
          <p:nvPr/>
        </p:nvPicPr>
        <p:blipFill>
          <a:blip r:embed="rId4"/>
          <a:stretch>
            <a:fillRect/>
          </a:stretch>
        </p:blipFill>
        <p:spPr>
          <a:xfrm>
            <a:off x="968898" y="4050426"/>
            <a:ext cx="201900" cy="201900"/>
          </a:xfrm>
          <a:prstGeom prst="rect">
            <a:avLst/>
          </a:prstGeom>
        </p:spPr>
      </p:pic>
      <p:sp>
        <p:nvSpPr>
          <p:cNvPr id="22" name="Text 16"/>
          <p:cNvSpPr txBox="1"/>
          <p:nvPr/>
        </p:nvSpPr>
        <p:spPr>
          <a:xfrm>
            <a:off x="1399032" y="3950208"/>
            <a:ext cx="2402738" cy="41148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False-Positive Triage</a:t>
            </a:r>
            <a:endParaRPr lang="en-US" sz="1400" dirty="0"/>
          </a:p>
        </p:txBody>
      </p:sp>
      <p:sp>
        <p:nvSpPr>
          <p:cNvPr id="23" name="Text 17"/>
          <p:cNvSpPr txBox="1"/>
          <p:nvPr/>
        </p:nvSpPr>
        <p:spPr>
          <a:xfrm>
            <a:off x="850392" y="4498848"/>
            <a:ext cx="2942234" cy="841248"/>
          </a:xfrm>
          <a:prstGeom prst="rect">
            <a:avLst/>
          </a:prstGeom>
          <a:noFill/>
          <a:ln/>
        </p:spPr>
        <p:txBody>
          <a:bodyPr wrap="square" lIns="0" tIns="0" rIns="0" bIns="0" rtlCol="0" anchor="ctr"/>
          <a:lstStyle/>
          <a:p>
            <a:pPr indent="0" marL="0">
              <a:lnSpc>
                <a:spcPct val="118000"/>
              </a:lnSpc>
              <a:buNone/>
            </a:pPr>
            <a:r>
              <a:rPr lang="en-US" sz="1150" dirty="0">
                <a:solidFill>
                  <a:srgbClr val="8B949E"/>
                </a:solidFill>
                <a:latin typeface="Calibri" pitchFamily="34" charset="0"/>
                <a:ea typeface="Calibri" pitchFamily="34" charset="-122"/>
                <a:cs typeface="Calibri" pitchFamily="34" charset="-120"/>
              </a:rPr>
              <a:t>Sorts the queue into Likely Benign, Suspicious and Likely Malicious so analysts open the real ones first.</a:t>
            </a:r>
            <a:endParaRPr lang="en-US" sz="1150" dirty="0"/>
          </a:p>
        </p:txBody>
      </p:sp>
      <p:sp>
        <p:nvSpPr>
          <p:cNvPr id="24" name="Shape 18"/>
          <p:cNvSpPr/>
          <p:nvPr/>
        </p:nvSpPr>
        <p:spPr>
          <a:xfrm>
            <a:off x="4368698" y="3675888"/>
            <a:ext cx="3454298" cy="1810512"/>
          </a:xfrm>
          <a:prstGeom prst="roundRect">
            <a:avLst>
              <a:gd name="adj" fmla="val 3030"/>
            </a:avLst>
          </a:prstGeom>
          <a:solidFill>
            <a:srgbClr val="141B26"/>
          </a:solidFill>
          <a:ln w="12700">
            <a:solidFill>
              <a:srgbClr val="2B3644"/>
            </a:solidFill>
            <a:prstDash val="solid"/>
          </a:ln>
        </p:spPr>
      </p:sp>
      <p:sp>
        <p:nvSpPr>
          <p:cNvPr id="25" name="Shape 19"/>
          <p:cNvSpPr/>
          <p:nvPr/>
        </p:nvSpPr>
        <p:spPr>
          <a:xfrm>
            <a:off x="4624730" y="3931920"/>
            <a:ext cx="438912" cy="438912"/>
          </a:xfrm>
          <a:prstGeom prst="ellipse">
            <a:avLst/>
          </a:prstGeom>
          <a:solidFill>
            <a:srgbClr val="F85149"/>
          </a:solidFill>
          <a:ln/>
        </p:spPr>
      </p:sp>
      <p:pic>
        <p:nvPicPr>
          <p:cNvPr id="26" name="Image 4" descr="icons/grid.png">    </p:cNvPr>
          <p:cNvPicPr>
            <a:picLocks noChangeAspect="1"/>
          </p:cNvPicPr>
          <p:nvPr/>
        </p:nvPicPr>
        <p:blipFill>
          <a:blip r:embed="rId5"/>
          <a:stretch>
            <a:fillRect/>
          </a:stretch>
        </p:blipFill>
        <p:spPr>
          <a:xfrm>
            <a:off x="4743237" y="4050426"/>
            <a:ext cx="201900" cy="201900"/>
          </a:xfrm>
          <a:prstGeom prst="rect">
            <a:avLst/>
          </a:prstGeom>
        </p:spPr>
      </p:pic>
      <p:sp>
        <p:nvSpPr>
          <p:cNvPr id="27" name="Text 20"/>
          <p:cNvSpPr txBox="1"/>
          <p:nvPr/>
        </p:nvSpPr>
        <p:spPr>
          <a:xfrm>
            <a:off x="5173370" y="3950208"/>
            <a:ext cx="2402738" cy="41148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MITRE ATT&amp;CK Mapping</a:t>
            </a:r>
            <a:endParaRPr lang="en-US" sz="1400" dirty="0"/>
          </a:p>
        </p:txBody>
      </p:sp>
      <p:sp>
        <p:nvSpPr>
          <p:cNvPr id="28" name="Text 21"/>
          <p:cNvSpPr txBox="1"/>
          <p:nvPr/>
        </p:nvSpPr>
        <p:spPr>
          <a:xfrm>
            <a:off x="4624730" y="4498848"/>
            <a:ext cx="2942234" cy="841248"/>
          </a:xfrm>
          <a:prstGeom prst="rect">
            <a:avLst/>
          </a:prstGeom>
          <a:noFill/>
          <a:ln/>
        </p:spPr>
        <p:txBody>
          <a:bodyPr wrap="square" lIns="0" tIns="0" rIns="0" bIns="0" rtlCol="0" anchor="ctr"/>
          <a:lstStyle/>
          <a:p>
            <a:pPr indent="0" marL="0">
              <a:lnSpc>
                <a:spcPct val="118000"/>
              </a:lnSpc>
              <a:buNone/>
            </a:pPr>
            <a:r>
              <a:rPr lang="en-US" sz="1150" dirty="0">
                <a:solidFill>
                  <a:srgbClr val="8B949E"/>
                </a:solidFill>
                <a:latin typeface="Calibri" pitchFamily="34" charset="0"/>
                <a:ea typeface="Calibri" pitchFamily="34" charset="-122"/>
                <a:cs typeface="Calibri" pitchFamily="34" charset="-120"/>
              </a:rPr>
              <a:t>Techniques mapped across the 14-tactic matrix, each with evidence strength and mapping confidence.</a:t>
            </a:r>
            <a:endParaRPr lang="en-US" sz="1150" dirty="0"/>
          </a:p>
        </p:txBody>
      </p:sp>
      <p:sp>
        <p:nvSpPr>
          <p:cNvPr id="29" name="Shape 22"/>
          <p:cNvSpPr/>
          <p:nvPr/>
        </p:nvSpPr>
        <p:spPr>
          <a:xfrm>
            <a:off x="8143037" y="3675888"/>
            <a:ext cx="3454298" cy="1810512"/>
          </a:xfrm>
          <a:prstGeom prst="roundRect">
            <a:avLst>
              <a:gd name="adj" fmla="val 3030"/>
            </a:avLst>
          </a:prstGeom>
          <a:solidFill>
            <a:srgbClr val="141B26"/>
          </a:solidFill>
          <a:ln w="12700">
            <a:solidFill>
              <a:srgbClr val="2B3644"/>
            </a:solidFill>
            <a:prstDash val="solid"/>
          </a:ln>
        </p:spPr>
      </p:sp>
      <p:sp>
        <p:nvSpPr>
          <p:cNvPr id="30" name="Shape 23"/>
          <p:cNvSpPr/>
          <p:nvPr/>
        </p:nvSpPr>
        <p:spPr>
          <a:xfrm>
            <a:off x="8399069" y="3931920"/>
            <a:ext cx="438912" cy="438912"/>
          </a:xfrm>
          <a:prstGeom prst="ellipse">
            <a:avLst/>
          </a:prstGeom>
          <a:solidFill>
            <a:srgbClr val="58A6FF"/>
          </a:solidFill>
          <a:ln/>
        </p:spPr>
      </p:sp>
      <p:pic>
        <p:nvPicPr>
          <p:cNvPr id="31" name="Image 5" descr="icons/report.png">    </p:cNvPr>
          <p:cNvPicPr>
            <a:picLocks noChangeAspect="1"/>
          </p:cNvPicPr>
          <p:nvPr/>
        </p:nvPicPr>
        <p:blipFill>
          <a:blip r:embed="rId6"/>
          <a:stretch>
            <a:fillRect/>
          </a:stretch>
        </p:blipFill>
        <p:spPr>
          <a:xfrm>
            <a:off x="8517575" y="4050426"/>
            <a:ext cx="201900" cy="201900"/>
          </a:xfrm>
          <a:prstGeom prst="rect">
            <a:avLst/>
          </a:prstGeom>
        </p:spPr>
      </p:pic>
      <p:sp>
        <p:nvSpPr>
          <p:cNvPr id="32" name="Text 24"/>
          <p:cNvSpPr txBox="1"/>
          <p:nvPr/>
        </p:nvSpPr>
        <p:spPr>
          <a:xfrm>
            <a:off x="8947709" y="3950208"/>
            <a:ext cx="2402738" cy="41148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BLUF Reports &amp; Export</a:t>
            </a:r>
            <a:endParaRPr lang="en-US" sz="1400" dirty="0"/>
          </a:p>
        </p:txBody>
      </p:sp>
      <p:sp>
        <p:nvSpPr>
          <p:cNvPr id="33" name="Text 25"/>
          <p:cNvSpPr txBox="1"/>
          <p:nvPr/>
        </p:nvSpPr>
        <p:spPr>
          <a:xfrm>
            <a:off x="8399069" y="4498848"/>
            <a:ext cx="2942234" cy="841248"/>
          </a:xfrm>
          <a:prstGeom prst="rect">
            <a:avLst/>
          </a:prstGeom>
          <a:noFill/>
          <a:ln/>
        </p:spPr>
        <p:txBody>
          <a:bodyPr wrap="square" lIns="0" tIns="0" rIns="0" bIns="0" rtlCol="0" anchor="ctr"/>
          <a:lstStyle/>
          <a:p>
            <a:pPr indent="0" marL="0">
              <a:lnSpc>
                <a:spcPct val="118000"/>
              </a:lnSpc>
              <a:buNone/>
            </a:pPr>
            <a:r>
              <a:rPr lang="en-US" sz="1150" dirty="0">
                <a:solidFill>
                  <a:srgbClr val="8B949E"/>
                </a:solidFill>
                <a:latin typeface="Calibri" pitchFamily="34" charset="0"/>
                <a:ea typeface="Calibri" pitchFamily="34" charset="-122"/>
                <a:cs typeface="Calibri" pitchFamily="34" charset="-120"/>
              </a:rPr>
              <a:t>One-click Bottom Line Up Front summaries, plus a four-sheet Excel workbook or CSV export.</a:t>
            </a:r>
            <a:endParaRPr lang="en-US" sz="1150" dirty="0"/>
          </a:p>
        </p:txBody>
      </p:sp>
      <p:sp>
        <p:nvSpPr>
          <p:cNvPr id="34" name="Text 26"/>
          <p:cNvSpPr txBox="1"/>
          <p:nvPr/>
        </p:nvSpPr>
        <p:spPr>
          <a:xfrm>
            <a:off x="594360" y="5833872"/>
            <a:ext cx="11002975" cy="292608"/>
          </a:xfrm>
          <a:prstGeom prst="rect">
            <a:avLst/>
          </a:prstGeom>
          <a:noFill/>
          <a:ln/>
        </p:spPr>
        <p:txBody>
          <a:bodyPr wrap="square" lIns="0" tIns="0" rIns="0" bIns="0" rtlCol="0" anchor="ctr"/>
          <a:lstStyle/>
          <a:p>
            <a:pPr indent="0" marL="0">
              <a:buNone/>
            </a:pPr>
            <a:r>
              <a:rPr lang="en-US" sz="1150" dirty="0">
                <a:solidFill>
                  <a:srgbClr val="6E7B8B"/>
                </a:solidFill>
                <a:latin typeface="Calibri" pitchFamily="34" charset="0"/>
                <a:ea typeface="Calibri" pitchFamily="34" charset="-122"/>
                <a:cs typeface="Calibri" pitchFamily="34" charset="-120"/>
              </a:rPr>
              <a:t>Every module runs client-side in the browser. No alert data is uploaded, transmitted or stored off the analyst’s machine.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19"/>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50292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How It Works: The Processing Pipeline</a:t>
            </a:r>
            <a:endParaRPr lang="en-US" sz="3200" dirty="0"/>
          </a:p>
        </p:txBody>
      </p:sp>
      <p:sp>
        <p:nvSpPr>
          <p:cNvPr id="3" name="Text 1"/>
          <p:cNvSpPr txBox="1"/>
          <p:nvPr/>
        </p:nvSpPr>
        <p:spPr>
          <a:xfrm>
            <a:off x="594360" y="932688"/>
            <a:ext cx="11002975" cy="292608"/>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Six stages, executed in-browser on every alert that is submitted or imported.</a:t>
            </a:r>
            <a:endParaRPr lang="en-US" sz="1350" dirty="0"/>
          </a:p>
        </p:txBody>
      </p:sp>
      <p:sp>
        <p:nvSpPr>
          <p:cNvPr id="4" name="Shape 2"/>
          <p:cNvSpPr/>
          <p:nvPr/>
        </p:nvSpPr>
        <p:spPr>
          <a:xfrm>
            <a:off x="594360" y="1737360"/>
            <a:ext cx="1664208" cy="2057400"/>
          </a:xfrm>
          <a:prstGeom prst="roundRect">
            <a:avLst>
              <a:gd name="adj" fmla="val 3297"/>
            </a:avLst>
          </a:prstGeom>
          <a:solidFill>
            <a:srgbClr val="141B26"/>
          </a:solidFill>
          <a:ln w="12700">
            <a:solidFill>
              <a:srgbClr val="2B3644"/>
            </a:solidFill>
            <a:prstDash val="solid"/>
          </a:ln>
        </p:spPr>
      </p:sp>
      <p:sp>
        <p:nvSpPr>
          <p:cNvPr id="5" name="Text 3"/>
          <p:cNvSpPr txBox="1"/>
          <p:nvPr/>
        </p:nvSpPr>
        <p:spPr>
          <a:xfrm>
            <a:off x="740664" y="1883664"/>
            <a:ext cx="548640" cy="219456"/>
          </a:xfrm>
          <a:prstGeom prst="rect">
            <a:avLst/>
          </a:prstGeom>
          <a:noFill/>
          <a:ln/>
        </p:spPr>
        <p:txBody>
          <a:bodyPr wrap="square" lIns="0" tIns="0" rIns="0" bIns="0" rtlCol="0" anchor="ctr"/>
          <a:lstStyle/>
          <a:p>
            <a:pPr indent="0" marL="0">
              <a:buNone/>
            </a:pPr>
            <a:r>
              <a:rPr lang="en-US" sz="1050" b="1" dirty="0">
                <a:solidFill>
                  <a:srgbClr val="5A6876"/>
                </a:solidFill>
                <a:latin typeface="Courier New" pitchFamily="34" charset="0"/>
                <a:ea typeface="Courier New" pitchFamily="34" charset="-122"/>
                <a:cs typeface="Courier New" pitchFamily="34" charset="-120"/>
              </a:rPr>
              <a:t>01</a:t>
            </a:r>
            <a:endParaRPr lang="en-US" sz="1050" dirty="0"/>
          </a:p>
        </p:txBody>
      </p:sp>
      <p:sp>
        <p:nvSpPr>
          <p:cNvPr id="6" name="Shape 4"/>
          <p:cNvSpPr/>
          <p:nvPr/>
        </p:nvSpPr>
        <p:spPr>
          <a:xfrm>
            <a:off x="1179576" y="2212848"/>
            <a:ext cx="493776" cy="493776"/>
          </a:xfrm>
          <a:prstGeom prst="ellipse">
            <a:avLst/>
          </a:prstGeom>
          <a:solidFill>
            <a:srgbClr val="58A6FF"/>
          </a:solidFill>
          <a:ln/>
        </p:spPr>
      </p:sp>
      <p:pic>
        <p:nvPicPr>
          <p:cNvPr id="7" name="Image 0" descr="icons/upload.png">    </p:cNvPr>
          <p:cNvPicPr>
            <a:picLocks noChangeAspect="1"/>
          </p:cNvPicPr>
          <p:nvPr/>
        </p:nvPicPr>
        <p:blipFill>
          <a:blip r:embed="rId1"/>
          <a:stretch>
            <a:fillRect/>
          </a:stretch>
        </p:blipFill>
        <p:spPr>
          <a:xfrm>
            <a:off x="1312896" y="2346168"/>
            <a:ext cx="227137" cy="227137"/>
          </a:xfrm>
          <a:prstGeom prst="rect">
            <a:avLst/>
          </a:prstGeom>
        </p:spPr>
      </p:pic>
      <p:sp>
        <p:nvSpPr>
          <p:cNvPr id="8" name="Text 5"/>
          <p:cNvSpPr txBox="1"/>
          <p:nvPr/>
        </p:nvSpPr>
        <p:spPr>
          <a:xfrm>
            <a:off x="685800" y="2852928"/>
            <a:ext cx="1481328" cy="274320"/>
          </a:xfrm>
          <a:prstGeom prst="rect">
            <a:avLst/>
          </a:prstGeom>
          <a:noFill/>
          <a:ln/>
        </p:spPr>
        <p:txBody>
          <a:bodyPr wrap="square" lIns="0" tIns="0" rIns="0" bIns="0" rtlCol="0" anchor="ctr"/>
          <a:lstStyle/>
          <a:p>
            <a:pPr algn="ctr" indent="0" marL="0">
              <a:buNone/>
            </a:pPr>
            <a:r>
              <a:rPr lang="en-US" sz="1350" b="1" dirty="0">
                <a:solidFill>
                  <a:srgbClr val="E6EDF3"/>
                </a:solidFill>
                <a:latin typeface="Arial" pitchFamily="34" charset="0"/>
                <a:ea typeface="Arial" pitchFamily="34" charset="-122"/>
                <a:cs typeface="Arial" pitchFamily="34" charset="-120"/>
              </a:rPr>
              <a:t>Ingest</a:t>
            </a:r>
            <a:endParaRPr lang="en-US" sz="1350" dirty="0"/>
          </a:p>
        </p:txBody>
      </p:sp>
      <p:sp>
        <p:nvSpPr>
          <p:cNvPr id="9" name="Text 6"/>
          <p:cNvSpPr txBox="1"/>
          <p:nvPr/>
        </p:nvSpPr>
        <p:spPr>
          <a:xfrm>
            <a:off x="704088" y="3163824"/>
            <a:ext cx="1444752" cy="502920"/>
          </a:xfrm>
          <a:prstGeom prst="rect">
            <a:avLst/>
          </a:prstGeom>
          <a:noFill/>
          <a:ln/>
        </p:spPr>
        <p:txBody>
          <a:bodyPr wrap="square" lIns="0" tIns="0" rIns="0" bIns="0" rtlCol="0" anchor="ctr"/>
          <a:lstStyle/>
          <a:p>
            <a:pPr algn="ctr" indent="0" marL="0">
              <a:lnSpc>
                <a:spcPct val="110000"/>
              </a:lnSpc>
              <a:buNone/>
            </a:pPr>
            <a:r>
              <a:rPr lang="en-US" sz="1050" dirty="0">
                <a:solidFill>
                  <a:srgbClr val="8B949E"/>
                </a:solidFill>
                <a:latin typeface="Calibri" pitchFamily="34" charset="0"/>
                <a:ea typeface="Calibri" pitchFamily="34" charset="-122"/>
                <a:cs typeface="Calibri" pitchFamily="34" charset="-120"/>
              </a:rPr>
              <a:t>Form, JSON or CSV</a:t>
            </a:r>
            <a:endParaRPr lang="en-US" sz="1050" dirty="0"/>
          </a:p>
        </p:txBody>
      </p:sp>
      <p:sp>
        <p:nvSpPr>
          <p:cNvPr id="10" name="Shape 7"/>
          <p:cNvSpPr/>
          <p:nvPr/>
        </p:nvSpPr>
        <p:spPr>
          <a:xfrm>
            <a:off x="2290572" y="2692908"/>
            <a:ext cx="137160" cy="146304"/>
          </a:xfrm>
          <a:prstGeom prst="rightArrow">
            <a:avLst/>
          </a:prstGeom>
          <a:solidFill>
            <a:srgbClr val="3E4C5C"/>
          </a:solidFill>
          <a:ln/>
        </p:spPr>
      </p:sp>
      <p:sp>
        <p:nvSpPr>
          <p:cNvPr id="11" name="Shape 8"/>
          <p:cNvSpPr/>
          <p:nvPr/>
        </p:nvSpPr>
        <p:spPr>
          <a:xfrm>
            <a:off x="2459736" y="1737360"/>
            <a:ext cx="1664208" cy="2057400"/>
          </a:xfrm>
          <a:prstGeom prst="roundRect">
            <a:avLst>
              <a:gd name="adj" fmla="val 3297"/>
            </a:avLst>
          </a:prstGeom>
          <a:solidFill>
            <a:srgbClr val="141B26"/>
          </a:solidFill>
          <a:ln w="12700">
            <a:solidFill>
              <a:srgbClr val="2B3644"/>
            </a:solidFill>
            <a:prstDash val="solid"/>
          </a:ln>
        </p:spPr>
      </p:sp>
      <p:sp>
        <p:nvSpPr>
          <p:cNvPr id="12" name="Text 9"/>
          <p:cNvSpPr txBox="1"/>
          <p:nvPr/>
        </p:nvSpPr>
        <p:spPr>
          <a:xfrm>
            <a:off x="2606040" y="1883664"/>
            <a:ext cx="548640" cy="219456"/>
          </a:xfrm>
          <a:prstGeom prst="rect">
            <a:avLst/>
          </a:prstGeom>
          <a:noFill/>
          <a:ln/>
        </p:spPr>
        <p:txBody>
          <a:bodyPr wrap="square" lIns="0" tIns="0" rIns="0" bIns="0" rtlCol="0" anchor="ctr"/>
          <a:lstStyle/>
          <a:p>
            <a:pPr indent="0" marL="0">
              <a:buNone/>
            </a:pPr>
            <a:r>
              <a:rPr lang="en-US" sz="1050" b="1" dirty="0">
                <a:solidFill>
                  <a:srgbClr val="5A6876"/>
                </a:solidFill>
                <a:latin typeface="Courier New" pitchFamily="34" charset="0"/>
                <a:ea typeface="Courier New" pitchFamily="34" charset="-122"/>
                <a:cs typeface="Courier New" pitchFamily="34" charset="-120"/>
              </a:rPr>
              <a:t>02</a:t>
            </a:r>
            <a:endParaRPr lang="en-US" sz="1050" dirty="0"/>
          </a:p>
        </p:txBody>
      </p:sp>
      <p:sp>
        <p:nvSpPr>
          <p:cNvPr id="13" name="Shape 10"/>
          <p:cNvSpPr/>
          <p:nvPr/>
        </p:nvSpPr>
        <p:spPr>
          <a:xfrm>
            <a:off x="3044952" y="2212848"/>
            <a:ext cx="493776" cy="493776"/>
          </a:xfrm>
          <a:prstGeom prst="ellipse">
            <a:avLst/>
          </a:prstGeom>
          <a:solidFill>
            <a:srgbClr val="58A6FF"/>
          </a:solidFill>
          <a:ln/>
        </p:spPr>
      </p:sp>
      <p:pic>
        <p:nvPicPr>
          <p:cNvPr id="14" name="Image 1" descr="icons/cpu.png">    </p:cNvPr>
          <p:cNvPicPr>
            <a:picLocks noChangeAspect="1"/>
          </p:cNvPicPr>
          <p:nvPr/>
        </p:nvPicPr>
        <p:blipFill>
          <a:blip r:embed="rId2"/>
          <a:stretch>
            <a:fillRect/>
          </a:stretch>
        </p:blipFill>
        <p:spPr>
          <a:xfrm>
            <a:off x="3178272" y="2346168"/>
            <a:ext cx="227137" cy="227137"/>
          </a:xfrm>
          <a:prstGeom prst="rect">
            <a:avLst/>
          </a:prstGeom>
        </p:spPr>
      </p:pic>
      <p:sp>
        <p:nvSpPr>
          <p:cNvPr id="15" name="Text 11"/>
          <p:cNvSpPr txBox="1"/>
          <p:nvPr/>
        </p:nvSpPr>
        <p:spPr>
          <a:xfrm>
            <a:off x="2551176" y="2852928"/>
            <a:ext cx="1481328" cy="274320"/>
          </a:xfrm>
          <a:prstGeom prst="rect">
            <a:avLst/>
          </a:prstGeom>
          <a:noFill/>
          <a:ln/>
        </p:spPr>
        <p:txBody>
          <a:bodyPr wrap="square" lIns="0" tIns="0" rIns="0" bIns="0" rtlCol="0" anchor="ctr"/>
          <a:lstStyle/>
          <a:p>
            <a:pPr algn="ctr" indent="0" marL="0">
              <a:buNone/>
            </a:pPr>
            <a:r>
              <a:rPr lang="en-US" sz="1350" b="1" dirty="0">
                <a:solidFill>
                  <a:srgbClr val="E6EDF3"/>
                </a:solidFill>
                <a:latin typeface="Arial" pitchFamily="34" charset="0"/>
                <a:ea typeface="Arial" pitchFamily="34" charset="-122"/>
                <a:cs typeface="Arial" pitchFamily="34" charset="-120"/>
              </a:rPr>
              <a:t>Normalise</a:t>
            </a:r>
            <a:endParaRPr lang="en-US" sz="1350" dirty="0"/>
          </a:p>
        </p:txBody>
      </p:sp>
      <p:sp>
        <p:nvSpPr>
          <p:cNvPr id="16" name="Text 12"/>
          <p:cNvSpPr txBox="1"/>
          <p:nvPr/>
        </p:nvSpPr>
        <p:spPr>
          <a:xfrm>
            <a:off x="2569464" y="3163824"/>
            <a:ext cx="1444752" cy="502920"/>
          </a:xfrm>
          <a:prstGeom prst="rect">
            <a:avLst/>
          </a:prstGeom>
          <a:noFill/>
          <a:ln/>
        </p:spPr>
        <p:txBody>
          <a:bodyPr wrap="square" lIns="0" tIns="0" rIns="0" bIns="0" rtlCol="0" anchor="ctr"/>
          <a:lstStyle/>
          <a:p>
            <a:pPr algn="ctr" indent="0" marL="0">
              <a:lnSpc>
                <a:spcPct val="110000"/>
              </a:lnSpc>
              <a:buNone/>
            </a:pPr>
            <a:r>
              <a:rPr lang="en-US" sz="1050" dirty="0">
                <a:solidFill>
                  <a:srgbClr val="8B949E"/>
                </a:solidFill>
                <a:latin typeface="Calibri" pitchFamily="34" charset="0"/>
                <a:ea typeface="Calibri" pitchFamily="34" charset="-122"/>
                <a:cs typeface="Calibri" pitchFamily="34" charset="-120"/>
              </a:rPr>
              <a:t>One shared schema</a:t>
            </a:r>
            <a:endParaRPr lang="en-US" sz="1050" dirty="0"/>
          </a:p>
        </p:txBody>
      </p:sp>
      <p:sp>
        <p:nvSpPr>
          <p:cNvPr id="17" name="Shape 13"/>
          <p:cNvSpPr/>
          <p:nvPr/>
        </p:nvSpPr>
        <p:spPr>
          <a:xfrm>
            <a:off x="4155948" y="2692908"/>
            <a:ext cx="137160" cy="146304"/>
          </a:xfrm>
          <a:prstGeom prst="rightArrow">
            <a:avLst/>
          </a:prstGeom>
          <a:solidFill>
            <a:srgbClr val="3E4C5C"/>
          </a:solidFill>
          <a:ln/>
        </p:spPr>
      </p:sp>
      <p:sp>
        <p:nvSpPr>
          <p:cNvPr id="18" name="Shape 14"/>
          <p:cNvSpPr/>
          <p:nvPr/>
        </p:nvSpPr>
        <p:spPr>
          <a:xfrm>
            <a:off x="4325112" y="1737360"/>
            <a:ext cx="1664208" cy="2057400"/>
          </a:xfrm>
          <a:prstGeom prst="roundRect">
            <a:avLst>
              <a:gd name="adj" fmla="val 3297"/>
            </a:avLst>
          </a:prstGeom>
          <a:solidFill>
            <a:srgbClr val="141B26"/>
          </a:solidFill>
          <a:ln w="12700">
            <a:solidFill>
              <a:srgbClr val="2B3644"/>
            </a:solidFill>
            <a:prstDash val="solid"/>
          </a:ln>
        </p:spPr>
      </p:sp>
      <p:sp>
        <p:nvSpPr>
          <p:cNvPr id="19" name="Text 15"/>
          <p:cNvSpPr txBox="1"/>
          <p:nvPr/>
        </p:nvSpPr>
        <p:spPr>
          <a:xfrm>
            <a:off x="4471416" y="1883664"/>
            <a:ext cx="548640" cy="219456"/>
          </a:xfrm>
          <a:prstGeom prst="rect">
            <a:avLst/>
          </a:prstGeom>
          <a:noFill/>
          <a:ln/>
        </p:spPr>
        <p:txBody>
          <a:bodyPr wrap="square" lIns="0" tIns="0" rIns="0" bIns="0" rtlCol="0" anchor="ctr"/>
          <a:lstStyle/>
          <a:p>
            <a:pPr indent="0" marL="0">
              <a:buNone/>
            </a:pPr>
            <a:r>
              <a:rPr lang="en-US" sz="1050" b="1" dirty="0">
                <a:solidFill>
                  <a:srgbClr val="5A6876"/>
                </a:solidFill>
                <a:latin typeface="Courier New" pitchFamily="34" charset="0"/>
                <a:ea typeface="Courier New" pitchFamily="34" charset="-122"/>
                <a:cs typeface="Courier New" pitchFamily="34" charset="-120"/>
              </a:rPr>
              <a:t>03</a:t>
            </a:r>
            <a:endParaRPr lang="en-US" sz="1050" dirty="0"/>
          </a:p>
        </p:txBody>
      </p:sp>
      <p:sp>
        <p:nvSpPr>
          <p:cNvPr id="20" name="Shape 16"/>
          <p:cNvSpPr/>
          <p:nvPr/>
        </p:nvSpPr>
        <p:spPr>
          <a:xfrm>
            <a:off x="4910328" y="2212848"/>
            <a:ext cx="493776" cy="493776"/>
          </a:xfrm>
          <a:prstGeom prst="ellipse">
            <a:avLst/>
          </a:prstGeom>
          <a:solidFill>
            <a:srgbClr val="E3B341"/>
          </a:solidFill>
          <a:ln/>
        </p:spPr>
      </p:sp>
      <p:pic>
        <p:nvPicPr>
          <p:cNvPr id="21" name="Image 2" descr="icons/bolt.png">    </p:cNvPr>
          <p:cNvPicPr>
            <a:picLocks noChangeAspect="1"/>
          </p:cNvPicPr>
          <p:nvPr/>
        </p:nvPicPr>
        <p:blipFill>
          <a:blip r:embed="rId3"/>
          <a:stretch>
            <a:fillRect/>
          </a:stretch>
        </p:blipFill>
        <p:spPr>
          <a:xfrm>
            <a:off x="5043648" y="2346168"/>
            <a:ext cx="227137" cy="227137"/>
          </a:xfrm>
          <a:prstGeom prst="rect">
            <a:avLst/>
          </a:prstGeom>
        </p:spPr>
      </p:pic>
      <p:sp>
        <p:nvSpPr>
          <p:cNvPr id="22" name="Text 17"/>
          <p:cNvSpPr txBox="1"/>
          <p:nvPr/>
        </p:nvSpPr>
        <p:spPr>
          <a:xfrm>
            <a:off x="4416552" y="2852928"/>
            <a:ext cx="1481328" cy="274320"/>
          </a:xfrm>
          <a:prstGeom prst="rect">
            <a:avLst/>
          </a:prstGeom>
          <a:noFill/>
          <a:ln/>
        </p:spPr>
        <p:txBody>
          <a:bodyPr wrap="square" lIns="0" tIns="0" rIns="0" bIns="0" rtlCol="0" anchor="ctr"/>
          <a:lstStyle/>
          <a:p>
            <a:pPr algn="ctr" indent="0" marL="0">
              <a:buNone/>
            </a:pPr>
            <a:r>
              <a:rPr lang="en-US" sz="1350" b="1" dirty="0">
                <a:solidFill>
                  <a:srgbClr val="E6EDF3"/>
                </a:solidFill>
                <a:latin typeface="Arial" pitchFamily="34" charset="0"/>
                <a:ea typeface="Arial" pitchFamily="34" charset="-122"/>
                <a:cs typeface="Arial" pitchFamily="34" charset="-120"/>
              </a:rPr>
              <a:t>Score</a:t>
            </a:r>
            <a:endParaRPr lang="en-US" sz="1350" dirty="0"/>
          </a:p>
        </p:txBody>
      </p:sp>
      <p:sp>
        <p:nvSpPr>
          <p:cNvPr id="23" name="Text 18"/>
          <p:cNvSpPr txBox="1"/>
          <p:nvPr/>
        </p:nvSpPr>
        <p:spPr>
          <a:xfrm>
            <a:off x="4434840" y="3163824"/>
            <a:ext cx="1444752" cy="502920"/>
          </a:xfrm>
          <a:prstGeom prst="rect">
            <a:avLst/>
          </a:prstGeom>
          <a:noFill/>
          <a:ln/>
        </p:spPr>
        <p:txBody>
          <a:bodyPr wrap="square" lIns="0" tIns="0" rIns="0" bIns="0" rtlCol="0" anchor="ctr"/>
          <a:lstStyle/>
          <a:p>
            <a:pPr algn="ctr" indent="0" marL="0">
              <a:lnSpc>
                <a:spcPct val="110000"/>
              </a:lnSpc>
              <a:buNone/>
            </a:pPr>
            <a:r>
              <a:rPr lang="en-US" sz="1050" dirty="0">
                <a:solidFill>
                  <a:srgbClr val="8B949E"/>
                </a:solidFill>
                <a:latin typeface="Calibri" pitchFamily="34" charset="0"/>
                <a:ea typeface="Calibri" pitchFamily="34" charset="-122"/>
                <a:cs typeface="Calibri" pitchFamily="34" charset="-120"/>
              </a:rPr>
              <a:t>0–100 risk, P1–P4</a:t>
            </a:r>
            <a:endParaRPr lang="en-US" sz="1050" dirty="0"/>
          </a:p>
        </p:txBody>
      </p:sp>
      <p:sp>
        <p:nvSpPr>
          <p:cNvPr id="24" name="Shape 19"/>
          <p:cNvSpPr/>
          <p:nvPr/>
        </p:nvSpPr>
        <p:spPr>
          <a:xfrm>
            <a:off x="6021324" y="2692908"/>
            <a:ext cx="137160" cy="146304"/>
          </a:xfrm>
          <a:prstGeom prst="rightArrow">
            <a:avLst/>
          </a:prstGeom>
          <a:solidFill>
            <a:srgbClr val="3E4C5C"/>
          </a:solidFill>
          <a:ln/>
        </p:spPr>
      </p:sp>
      <p:sp>
        <p:nvSpPr>
          <p:cNvPr id="25" name="Shape 20"/>
          <p:cNvSpPr/>
          <p:nvPr/>
        </p:nvSpPr>
        <p:spPr>
          <a:xfrm>
            <a:off x="6190488" y="1737360"/>
            <a:ext cx="1664208" cy="2057400"/>
          </a:xfrm>
          <a:prstGeom prst="roundRect">
            <a:avLst>
              <a:gd name="adj" fmla="val 3297"/>
            </a:avLst>
          </a:prstGeom>
          <a:solidFill>
            <a:srgbClr val="141B26"/>
          </a:solidFill>
          <a:ln w="12700">
            <a:solidFill>
              <a:srgbClr val="2B3644"/>
            </a:solidFill>
            <a:prstDash val="solid"/>
          </a:ln>
        </p:spPr>
      </p:sp>
      <p:sp>
        <p:nvSpPr>
          <p:cNvPr id="26" name="Text 21"/>
          <p:cNvSpPr txBox="1"/>
          <p:nvPr/>
        </p:nvSpPr>
        <p:spPr>
          <a:xfrm>
            <a:off x="6336792" y="1883664"/>
            <a:ext cx="548640" cy="219456"/>
          </a:xfrm>
          <a:prstGeom prst="rect">
            <a:avLst/>
          </a:prstGeom>
          <a:noFill/>
          <a:ln/>
        </p:spPr>
        <p:txBody>
          <a:bodyPr wrap="square" lIns="0" tIns="0" rIns="0" bIns="0" rtlCol="0" anchor="ctr"/>
          <a:lstStyle/>
          <a:p>
            <a:pPr indent="0" marL="0">
              <a:buNone/>
            </a:pPr>
            <a:r>
              <a:rPr lang="en-US" sz="1050" b="1" dirty="0">
                <a:solidFill>
                  <a:srgbClr val="5A6876"/>
                </a:solidFill>
                <a:latin typeface="Courier New" pitchFamily="34" charset="0"/>
                <a:ea typeface="Courier New" pitchFamily="34" charset="-122"/>
                <a:cs typeface="Courier New" pitchFamily="34" charset="-120"/>
              </a:rPr>
              <a:t>04</a:t>
            </a:r>
            <a:endParaRPr lang="en-US" sz="1050" dirty="0"/>
          </a:p>
        </p:txBody>
      </p:sp>
      <p:sp>
        <p:nvSpPr>
          <p:cNvPr id="27" name="Shape 22"/>
          <p:cNvSpPr/>
          <p:nvPr/>
        </p:nvSpPr>
        <p:spPr>
          <a:xfrm>
            <a:off x="6775704" y="2212848"/>
            <a:ext cx="493776" cy="493776"/>
          </a:xfrm>
          <a:prstGeom prst="ellipse">
            <a:avLst/>
          </a:prstGeom>
          <a:solidFill>
            <a:srgbClr val="388BFD"/>
          </a:solidFill>
          <a:ln/>
        </p:spPr>
      </p:sp>
      <p:pic>
        <p:nvPicPr>
          <p:cNvPr id="28" name="Image 3" descr="icons/silo.png">    </p:cNvPr>
          <p:cNvPicPr>
            <a:picLocks noChangeAspect="1"/>
          </p:cNvPicPr>
          <p:nvPr/>
        </p:nvPicPr>
        <p:blipFill>
          <a:blip r:embed="rId4"/>
          <a:stretch>
            <a:fillRect/>
          </a:stretch>
        </p:blipFill>
        <p:spPr>
          <a:xfrm>
            <a:off x="6909024" y="2346168"/>
            <a:ext cx="227137" cy="227137"/>
          </a:xfrm>
          <a:prstGeom prst="rect">
            <a:avLst/>
          </a:prstGeom>
        </p:spPr>
      </p:pic>
      <p:sp>
        <p:nvSpPr>
          <p:cNvPr id="29" name="Text 23"/>
          <p:cNvSpPr txBox="1"/>
          <p:nvPr/>
        </p:nvSpPr>
        <p:spPr>
          <a:xfrm>
            <a:off x="6281928" y="2852928"/>
            <a:ext cx="1481328" cy="274320"/>
          </a:xfrm>
          <a:prstGeom prst="rect">
            <a:avLst/>
          </a:prstGeom>
          <a:noFill/>
          <a:ln/>
        </p:spPr>
        <p:txBody>
          <a:bodyPr wrap="square" lIns="0" tIns="0" rIns="0" bIns="0" rtlCol="0" anchor="ctr"/>
          <a:lstStyle/>
          <a:p>
            <a:pPr algn="ctr" indent="0" marL="0">
              <a:buNone/>
            </a:pPr>
            <a:r>
              <a:rPr lang="en-US" sz="1350" b="1" dirty="0">
                <a:solidFill>
                  <a:srgbClr val="E6EDF3"/>
                </a:solidFill>
                <a:latin typeface="Arial" pitchFamily="34" charset="0"/>
                <a:ea typeface="Arial" pitchFamily="34" charset="-122"/>
                <a:cs typeface="Arial" pitchFamily="34" charset="-120"/>
              </a:rPr>
              <a:t>Correlate</a:t>
            </a:r>
            <a:endParaRPr lang="en-US" sz="1350" dirty="0"/>
          </a:p>
        </p:txBody>
      </p:sp>
      <p:sp>
        <p:nvSpPr>
          <p:cNvPr id="30" name="Text 24"/>
          <p:cNvSpPr txBox="1"/>
          <p:nvPr/>
        </p:nvSpPr>
        <p:spPr>
          <a:xfrm>
            <a:off x="6300216" y="3163824"/>
            <a:ext cx="1444752" cy="502920"/>
          </a:xfrm>
          <a:prstGeom prst="rect">
            <a:avLst/>
          </a:prstGeom>
          <a:noFill/>
          <a:ln/>
        </p:spPr>
        <p:txBody>
          <a:bodyPr wrap="square" lIns="0" tIns="0" rIns="0" bIns="0" rtlCol="0" anchor="ctr"/>
          <a:lstStyle/>
          <a:p>
            <a:pPr algn="ctr" indent="0" marL="0">
              <a:lnSpc>
                <a:spcPct val="110000"/>
              </a:lnSpc>
              <a:buNone/>
            </a:pPr>
            <a:r>
              <a:rPr lang="en-US" sz="1050" dirty="0">
                <a:solidFill>
                  <a:srgbClr val="8B949E"/>
                </a:solidFill>
                <a:latin typeface="Calibri" pitchFamily="34" charset="0"/>
                <a:ea typeface="Calibri" pitchFamily="34" charset="-122"/>
                <a:cs typeface="Calibri" pitchFamily="34" charset="-120"/>
              </a:rPr>
              <a:t>Group by indicator</a:t>
            </a:r>
            <a:endParaRPr lang="en-US" sz="1050" dirty="0"/>
          </a:p>
        </p:txBody>
      </p:sp>
      <p:sp>
        <p:nvSpPr>
          <p:cNvPr id="31" name="Shape 25"/>
          <p:cNvSpPr/>
          <p:nvPr/>
        </p:nvSpPr>
        <p:spPr>
          <a:xfrm>
            <a:off x="7886700" y="2692908"/>
            <a:ext cx="137160" cy="146304"/>
          </a:xfrm>
          <a:prstGeom prst="rightArrow">
            <a:avLst/>
          </a:prstGeom>
          <a:solidFill>
            <a:srgbClr val="3E4C5C"/>
          </a:solidFill>
          <a:ln/>
        </p:spPr>
      </p:sp>
      <p:sp>
        <p:nvSpPr>
          <p:cNvPr id="32" name="Shape 26"/>
          <p:cNvSpPr/>
          <p:nvPr/>
        </p:nvSpPr>
        <p:spPr>
          <a:xfrm>
            <a:off x="8055864" y="1737360"/>
            <a:ext cx="1664208" cy="2057400"/>
          </a:xfrm>
          <a:prstGeom prst="roundRect">
            <a:avLst>
              <a:gd name="adj" fmla="val 3297"/>
            </a:avLst>
          </a:prstGeom>
          <a:solidFill>
            <a:srgbClr val="141B26"/>
          </a:solidFill>
          <a:ln w="12700">
            <a:solidFill>
              <a:srgbClr val="2B3644"/>
            </a:solidFill>
            <a:prstDash val="solid"/>
          </a:ln>
        </p:spPr>
      </p:sp>
      <p:sp>
        <p:nvSpPr>
          <p:cNvPr id="33" name="Text 27"/>
          <p:cNvSpPr txBox="1"/>
          <p:nvPr/>
        </p:nvSpPr>
        <p:spPr>
          <a:xfrm>
            <a:off x="8202168" y="1883664"/>
            <a:ext cx="548640" cy="219456"/>
          </a:xfrm>
          <a:prstGeom prst="rect">
            <a:avLst/>
          </a:prstGeom>
          <a:noFill/>
          <a:ln/>
        </p:spPr>
        <p:txBody>
          <a:bodyPr wrap="square" lIns="0" tIns="0" rIns="0" bIns="0" rtlCol="0" anchor="ctr"/>
          <a:lstStyle/>
          <a:p>
            <a:pPr indent="0" marL="0">
              <a:buNone/>
            </a:pPr>
            <a:r>
              <a:rPr lang="en-US" sz="1050" b="1" dirty="0">
                <a:solidFill>
                  <a:srgbClr val="5A6876"/>
                </a:solidFill>
                <a:latin typeface="Courier New" pitchFamily="34" charset="0"/>
                <a:ea typeface="Courier New" pitchFamily="34" charset="-122"/>
                <a:cs typeface="Courier New" pitchFamily="34" charset="-120"/>
              </a:rPr>
              <a:t>05</a:t>
            </a:r>
            <a:endParaRPr lang="en-US" sz="1050" dirty="0"/>
          </a:p>
        </p:txBody>
      </p:sp>
      <p:sp>
        <p:nvSpPr>
          <p:cNvPr id="34" name="Shape 28"/>
          <p:cNvSpPr/>
          <p:nvPr/>
        </p:nvSpPr>
        <p:spPr>
          <a:xfrm>
            <a:off x="8641080" y="2212848"/>
            <a:ext cx="493776" cy="493776"/>
          </a:xfrm>
          <a:prstGeom prst="ellipse">
            <a:avLst/>
          </a:prstGeom>
          <a:solidFill>
            <a:srgbClr val="3FB950"/>
          </a:solidFill>
          <a:ln/>
        </p:spPr>
      </p:sp>
      <p:pic>
        <p:nvPicPr>
          <p:cNvPr id="35" name="Image 4" descr="icons/patch.png">    </p:cNvPr>
          <p:cNvPicPr>
            <a:picLocks noChangeAspect="1"/>
          </p:cNvPicPr>
          <p:nvPr/>
        </p:nvPicPr>
        <p:blipFill>
          <a:blip r:embed="rId5"/>
          <a:stretch>
            <a:fillRect/>
          </a:stretch>
        </p:blipFill>
        <p:spPr>
          <a:xfrm>
            <a:off x="8774400" y="2346168"/>
            <a:ext cx="227137" cy="227137"/>
          </a:xfrm>
          <a:prstGeom prst="rect">
            <a:avLst/>
          </a:prstGeom>
        </p:spPr>
      </p:pic>
      <p:sp>
        <p:nvSpPr>
          <p:cNvPr id="36" name="Text 29"/>
          <p:cNvSpPr txBox="1"/>
          <p:nvPr/>
        </p:nvSpPr>
        <p:spPr>
          <a:xfrm>
            <a:off x="8147304" y="2852928"/>
            <a:ext cx="1481328" cy="274320"/>
          </a:xfrm>
          <a:prstGeom prst="rect">
            <a:avLst/>
          </a:prstGeom>
          <a:noFill/>
          <a:ln/>
        </p:spPr>
        <p:txBody>
          <a:bodyPr wrap="square" lIns="0" tIns="0" rIns="0" bIns="0" rtlCol="0" anchor="ctr"/>
          <a:lstStyle/>
          <a:p>
            <a:pPr algn="ctr" indent="0" marL="0">
              <a:buNone/>
            </a:pPr>
            <a:r>
              <a:rPr lang="en-US" sz="1350" b="1" dirty="0">
                <a:solidFill>
                  <a:srgbClr val="E6EDF3"/>
                </a:solidFill>
                <a:latin typeface="Arial" pitchFamily="34" charset="0"/>
                <a:ea typeface="Arial" pitchFamily="34" charset="-122"/>
                <a:cs typeface="Arial" pitchFamily="34" charset="-120"/>
              </a:rPr>
              <a:t>Classify</a:t>
            </a:r>
            <a:endParaRPr lang="en-US" sz="1350" dirty="0"/>
          </a:p>
        </p:txBody>
      </p:sp>
      <p:sp>
        <p:nvSpPr>
          <p:cNvPr id="37" name="Text 30"/>
          <p:cNvSpPr txBox="1"/>
          <p:nvPr/>
        </p:nvSpPr>
        <p:spPr>
          <a:xfrm>
            <a:off x="8165592" y="3163824"/>
            <a:ext cx="1444752" cy="502920"/>
          </a:xfrm>
          <a:prstGeom prst="rect">
            <a:avLst/>
          </a:prstGeom>
          <a:noFill/>
          <a:ln/>
        </p:spPr>
        <p:txBody>
          <a:bodyPr wrap="square" lIns="0" tIns="0" rIns="0" bIns="0" rtlCol="0" anchor="ctr"/>
          <a:lstStyle/>
          <a:p>
            <a:pPr algn="ctr" indent="0" marL="0">
              <a:lnSpc>
                <a:spcPct val="110000"/>
              </a:lnSpc>
              <a:buNone/>
            </a:pPr>
            <a:r>
              <a:rPr lang="en-US" sz="1050" dirty="0">
                <a:solidFill>
                  <a:srgbClr val="8B949E"/>
                </a:solidFill>
                <a:latin typeface="Calibri" pitchFamily="34" charset="0"/>
                <a:ea typeface="Calibri" pitchFamily="34" charset="-122"/>
                <a:cs typeface="Calibri" pitchFamily="34" charset="-120"/>
              </a:rPr>
              <a:t>FP / suspicious / real</a:t>
            </a:r>
            <a:endParaRPr lang="en-US" sz="1050" dirty="0"/>
          </a:p>
        </p:txBody>
      </p:sp>
      <p:sp>
        <p:nvSpPr>
          <p:cNvPr id="38" name="Shape 31"/>
          <p:cNvSpPr/>
          <p:nvPr/>
        </p:nvSpPr>
        <p:spPr>
          <a:xfrm>
            <a:off x="9752076" y="2692908"/>
            <a:ext cx="137160" cy="146304"/>
          </a:xfrm>
          <a:prstGeom prst="rightArrow">
            <a:avLst/>
          </a:prstGeom>
          <a:solidFill>
            <a:srgbClr val="3E4C5C"/>
          </a:solidFill>
          <a:ln/>
        </p:spPr>
      </p:sp>
      <p:sp>
        <p:nvSpPr>
          <p:cNvPr id="39" name="Shape 32"/>
          <p:cNvSpPr/>
          <p:nvPr/>
        </p:nvSpPr>
        <p:spPr>
          <a:xfrm>
            <a:off x="9921240" y="1737360"/>
            <a:ext cx="1664208" cy="2057400"/>
          </a:xfrm>
          <a:prstGeom prst="roundRect">
            <a:avLst>
              <a:gd name="adj" fmla="val 3297"/>
            </a:avLst>
          </a:prstGeom>
          <a:solidFill>
            <a:srgbClr val="141B26"/>
          </a:solidFill>
          <a:ln w="12700">
            <a:solidFill>
              <a:srgbClr val="2B3644"/>
            </a:solidFill>
            <a:prstDash val="solid"/>
          </a:ln>
        </p:spPr>
      </p:sp>
      <p:sp>
        <p:nvSpPr>
          <p:cNvPr id="40" name="Text 33"/>
          <p:cNvSpPr txBox="1"/>
          <p:nvPr/>
        </p:nvSpPr>
        <p:spPr>
          <a:xfrm>
            <a:off x="10067544" y="1883664"/>
            <a:ext cx="548640" cy="219456"/>
          </a:xfrm>
          <a:prstGeom prst="rect">
            <a:avLst/>
          </a:prstGeom>
          <a:noFill/>
          <a:ln/>
        </p:spPr>
        <p:txBody>
          <a:bodyPr wrap="square" lIns="0" tIns="0" rIns="0" bIns="0" rtlCol="0" anchor="ctr"/>
          <a:lstStyle/>
          <a:p>
            <a:pPr indent="0" marL="0">
              <a:buNone/>
            </a:pPr>
            <a:r>
              <a:rPr lang="en-US" sz="1050" b="1" dirty="0">
                <a:solidFill>
                  <a:srgbClr val="5A6876"/>
                </a:solidFill>
                <a:latin typeface="Courier New" pitchFamily="34" charset="0"/>
                <a:ea typeface="Courier New" pitchFamily="34" charset="-122"/>
                <a:cs typeface="Courier New" pitchFamily="34" charset="-120"/>
              </a:rPr>
              <a:t>06</a:t>
            </a:r>
            <a:endParaRPr lang="en-US" sz="1050" dirty="0"/>
          </a:p>
        </p:txBody>
      </p:sp>
      <p:sp>
        <p:nvSpPr>
          <p:cNvPr id="41" name="Shape 34"/>
          <p:cNvSpPr/>
          <p:nvPr/>
        </p:nvSpPr>
        <p:spPr>
          <a:xfrm>
            <a:off x="10506456" y="2212848"/>
            <a:ext cx="493776" cy="493776"/>
          </a:xfrm>
          <a:prstGeom prst="ellipse">
            <a:avLst/>
          </a:prstGeom>
          <a:solidFill>
            <a:srgbClr val="F85149"/>
          </a:solidFill>
          <a:ln/>
        </p:spPr>
      </p:sp>
      <p:pic>
        <p:nvPicPr>
          <p:cNvPr id="42" name="Image 5" descr="icons/report.png">    </p:cNvPr>
          <p:cNvPicPr>
            <a:picLocks noChangeAspect="1"/>
          </p:cNvPicPr>
          <p:nvPr/>
        </p:nvPicPr>
        <p:blipFill>
          <a:blip r:embed="rId6"/>
          <a:stretch>
            <a:fillRect/>
          </a:stretch>
        </p:blipFill>
        <p:spPr>
          <a:xfrm>
            <a:off x="10639776" y="2346168"/>
            <a:ext cx="227137" cy="227137"/>
          </a:xfrm>
          <a:prstGeom prst="rect">
            <a:avLst/>
          </a:prstGeom>
        </p:spPr>
      </p:pic>
      <p:sp>
        <p:nvSpPr>
          <p:cNvPr id="43" name="Text 35"/>
          <p:cNvSpPr txBox="1"/>
          <p:nvPr/>
        </p:nvSpPr>
        <p:spPr>
          <a:xfrm>
            <a:off x="10012680" y="2852928"/>
            <a:ext cx="1481328" cy="274320"/>
          </a:xfrm>
          <a:prstGeom prst="rect">
            <a:avLst/>
          </a:prstGeom>
          <a:noFill/>
          <a:ln/>
        </p:spPr>
        <p:txBody>
          <a:bodyPr wrap="square" lIns="0" tIns="0" rIns="0" bIns="0" rtlCol="0" anchor="ctr"/>
          <a:lstStyle/>
          <a:p>
            <a:pPr algn="ctr" indent="0" marL="0">
              <a:buNone/>
            </a:pPr>
            <a:r>
              <a:rPr lang="en-US" sz="1350" b="1" dirty="0">
                <a:solidFill>
                  <a:srgbClr val="E6EDF3"/>
                </a:solidFill>
                <a:latin typeface="Arial" pitchFamily="34" charset="0"/>
                <a:ea typeface="Arial" pitchFamily="34" charset="-122"/>
                <a:cs typeface="Arial" pitchFamily="34" charset="-120"/>
              </a:rPr>
              <a:t>Report</a:t>
            </a:r>
            <a:endParaRPr lang="en-US" sz="1350" dirty="0"/>
          </a:p>
        </p:txBody>
      </p:sp>
      <p:sp>
        <p:nvSpPr>
          <p:cNvPr id="44" name="Text 36"/>
          <p:cNvSpPr txBox="1"/>
          <p:nvPr/>
        </p:nvSpPr>
        <p:spPr>
          <a:xfrm>
            <a:off x="10030968" y="3163824"/>
            <a:ext cx="1444752" cy="502920"/>
          </a:xfrm>
          <a:prstGeom prst="rect">
            <a:avLst/>
          </a:prstGeom>
          <a:noFill/>
          <a:ln/>
        </p:spPr>
        <p:txBody>
          <a:bodyPr wrap="square" lIns="0" tIns="0" rIns="0" bIns="0" rtlCol="0" anchor="ctr"/>
          <a:lstStyle/>
          <a:p>
            <a:pPr algn="ctr" indent="0" marL="0">
              <a:lnSpc>
                <a:spcPct val="110000"/>
              </a:lnSpc>
              <a:buNone/>
            </a:pPr>
            <a:r>
              <a:rPr lang="en-US" sz="1050" dirty="0">
                <a:solidFill>
                  <a:srgbClr val="8B949E"/>
                </a:solidFill>
                <a:latin typeface="Calibri" pitchFamily="34" charset="0"/>
                <a:ea typeface="Calibri" pitchFamily="34" charset="-122"/>
                <a:cs typeface="Calibri" pitchFamily="34" charset="-120"/>
              </a:rPr>
              <a:t>BLUF + Excel/CSV</a:t>
            </a:r>
            <a:endParaRPr lang="en-US" sz="1050" dirty="0"/>
          </a:p>
        </p:txBody>
      </p:sp>
      <p:sp>
        <p:nvSpPr>
          <p:cNvPr id="45" name="Shape 37"/>
          <p:cNvSpPr/>
          <p:nvPr/>
        </p:nvSpPr>
        <p:spPr>
          <a:xfrm>
            <a:off x="594360" y="4206240"/>
            <a:ext cx="11002975" cy="1481328"/>
          </a:xfrm>
          <a:prstGeom prst="roundRect">
            <a:avLst>
              <a:gd name="adj" fmla="val 3704"/>
            </a:avLst>
          </a:prstGeom>
          <a:solidFill>
            <a:srgbClr val="1B2431"/>
          </a:solidFill>
          <a:ln w="12700">
            <a:solidFill>
              <a:srgbClr val="2B3644"/>
            </a:solidFill>
            <a:prstDash val="solid"/>
          </a:ln>
        </p:spPr>
      </p:sp>
      <p:sp>
        <p:nvSpPr>
          <p:cNvPr id="46" name="Shape 38"/>
          <p:cNvSpPr/>
          <p:nvPr/>
        </p:nvSpPr>
        <p:spPr>
          <a:xfrm>
            <a:off x="886968" y="4425696"/>
            <a:ext cx="384048" cy="384048"/>
          </a:xfrm>
          <a:prstGeom prst="ellipse">
            <a:avLst/>
          </a:prstGeom>
          <a:solidFill>
            <a:srgbClr val="58A6FF"/>
          </a:solidFill>
          <a:ln/>
        </p:spPr>
      </p:sp>
      <p:pic>
        <p:nvPicPr>
          <p:cNvPr id="47" name="Image 6" descr="icons/clock.png">    </p:cNvPr>
          <p:cNvPicPr>
            <a:picLocks noChangeAspect="1"/>
          </p:cNvPicPr>
          <p:nvPr/>
        </p:nvPicPr>
        <p:blipFill>
          <a:blip r:embed="rId7"/>
          <a:stretch>
            <a:fillRect/>
          </a:stretch>
        </p:blipFill>
        <p:spPr>
          <a:xfrm>
            <a:off x="990661" y="4529389"/>
            <a:ext cx="176662" cy="176662"/>
          </a:xfrm>
          <a:prstGeom prst="rect">
            <a:avLst/>
          </a:prstGeom>
        </p:spPr>
      </p:pic>
      <p:sp>
        <p:nvSpPr>
          <p:cNvPr id="48" name="Text 39"/>
          <p:cNvSpPr txBox="1"/>
          <p:nvPr/>
        </p:nvSpPr>
        <p:spPr>
          <a:xfrm>
            <a:off x="1399032" y="4425696"/>
            <a:ext cx="2743200" cy="384048"/>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Analyst-tunable</a:t>
            </a:r>
            <a:endParaRPr lang="en-US" sz="1250" dirty="0"/>
          </a:p>
        </p:txBody>
      </p:sp>
      <p:sp>
        <p:nvSpPr>
          <p:cNvPr id="49" name="Text 40"/>
          <p:cNvSpPr txBox="1"/>
          <p:nvPr/>
        </p:nvSpPr>
        <p:spPr>
          <a:xfrm>
            <a:off x="886968" y="4901184"/>
            <a:ext cx="3246120" cy="658368"/>
          </a:xfrm>
          <a:prstGeom prst="rect">
            <a:avLst/>
          </a:prstGeom>
          <a:noFill/>
          <a:ln/>
        </p:spPr>
        <p:txBody>
          <a:bodyPr wrap="square" lIns="0" tIns="0" rIns="0" bIns="0" rtlCol="0" anchor="ctr"/>
          <a:lstStyle/>
          <a:p>
            <a:pPr indent="0" marL="0">
              <a:lnSpc>
                <a:spcPct val="115000"/>
              </a:lnSpc>
              <a:buNone/>
            </a:pPr>
            <a:r>
              <a:rPr lang="en-US" sz="1050" dirty="0">
                <a:solidFill>
                  <a:srgbClr val="8B949E"/>
                </a:solidFill>
                <a:latin typeface="Calibri" pitchFamily="34" charset="0"/>
                <a:ea typeface="Calibri" pitchFamily="34" charset="-122"/>
                <a:cs typeface="Calibri" pitchFamily="34" charset="-120"/>
              </a:rPr>
              <a:t>Correlation window (default 60 minutes) and minimum shared indicators are both set in Settings, not hard-coded.</a:t>
            </a:r>
            <a:endParaRPr lang="en-US" sz="1050" dirty="0"/>
          </a:p>
        </p:txBody>
      </p:sp>
      <p:sp>
        <p:nvSpPr>
          <p:cNvPr id="50" name="Shape 41"/>
          <p:cNvSpPr/>
          <p:nvPr/>
        </p:nvSpPr>
        <p:spPr>
          <a:xfrm>
            <a:off x="4471416" y="4425696"/>
            <a:ext cx="384048" cy="384048"/>
          </a:xfrm>
          <a:prstGeom prst="ellipse">
            <a:avLst/>
          </a:prstGeom>
          <a:solidFill>
            <a:srgbClr val="E3B341"/>
          </a:solidFill>
          <a:ln/>
        </p:spPr>
      </p:sp>
      <p:pic>
        <p:nvPicPr>
          <p:cNvPr id="51" name="Image 7" descr="icons/people.png">    </p:cNvPr>
          <p:cNvPicPr>
            <a:picLocks noChangeAspect="1"/>
          </p:cNvPicPr>
          <p:nvPr/>
        </p:nvPicPr>
        <p:blipFill>
          <a:blip r:embed="rId8"/>
          <a:stretch>
            <a:fillRect/>
          </a:stretch>
        </p:blipFill>
        <p:spPr>
          <a:xfrm>
            <a:off x="4575109" y="4529389"/>
            <a:ext cx="176662" cy="176662"/>
          </a:xfrm>
          <a:prstGeom prst="rect">
            <a:avLst/>
          </a:prstGeom>
        </p:spPr>
      </p:pic>
      <p:sp>
        <p:nvSpPr>
          <p:cNvPr id="52" name="Text 42"/>
          <p:cNvSpPr txBox="1"/>
          <p:nvPr/>
        </p:nvSpPr>
        <p:spPr>
          <a:xfrm>
            <a:off x="4983480" y="4425696"/>
            <a:ext cx="2743200" cy="384048"/>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Analyst in the loop</a:t>
            </a:r>
            <a:endParaRPr lang="en-US" sz="1250" dirty="0"/>
          </a:p>
        </p:txBody>
      </p:sp>
      <p:sp>
        <p:nvSpPr>
          <p:cNvPr id="53" name="Text 43"/>
          <p:cNvSpPr txBox="1"/>
          <p:nvPr/>
        </p:nvSpPr>
        <p:spPr>
          <a:xfrm>
            <a:off x="4471416" y="4901184"/>
            <a:ext cx="3246120" cy="658368"/>
          </a:xfrm>
          <a:prstGeom prst="rect">
            <a:avLst/>
          </a:prstGeom>
          <a:noFill/>
          <a:ln/>
        </p:spPr>
        <p:txBody>
          <a:bodyPr wrap="square" lIns="0" tIns="0" rIns="0" bIns="0" rtlCol="0" anchor="ctr"/>
          <a:lstStyle/>
          <a:p>
            <a:pPr indent="0" marL="0">
              <a:lnSpc>
                <a:spcPct val="115000"/>
              </a:lnSpc>
              <a:buNone/>
            </a:pPr>
            <a:r>
              <a:rPr lang="en-US" sz="1050" dirty="0">
                <a:solidFill>
                  <a:srgbClr val="8B949E"/>
                </a:solidFill>
                <a:latin typeface="Calibri" pitchFamily="34" charset="0"/>
                <a:ea typeface="Calibri" pitchFamily="34" charset="-122"/>
                <a:cs typeface="Calibri" pitchFamily="34" charset="-120"/>
              </a:rPr>
              <a:t>Every automated output is labelled preliminary. Correlation groups alerts; it never confirms a threat.</a:t>
            </a:r>
            <a:endParaRPr lang="en-US" sz="1050" dirty="0"/>
          </a:p>
        </p:txBody>
      </p:sp>
      <p:sp>
        <p:nvSpPr>
          <p:cNvPr id="54" name="Shape 44"/>
          <p:cNvSpPr/>
          <p:nvPr/>
        </p:nvSpPr>
        <p:spPr>
          <a:xfrm>
            <a:off x="8055864" y="4425696"/>
            <a:ext cx="384048" cy="384048"/>
          </a:xfrm>
          <a:prstGeom prst="ellipse">
            <a:avLst/>
          </a:prstGeom>
          <a:solidFill>
            <a:srgbClr val="3FB950"/>
          </a:solidFill>
          <a:ln/>
        </p:spPr>
      </p:sp>
      <p:pic>
        <p:nvPicPr>
          <p:cNvPr id="55" name="Image 8" descr="icons/shield.png">    </p:cNvPr>
          <p:cNvPicPr>
            <a:picLocks noChangeAspect="1"/>
          </p:cNvPicPr>
          <p:nvPr/>
        </p:nvPicPr>
        <p:blipFill>
          <a:blip r:embed="rId9"/>
          <a:stretch>
            <a:fillRect/>
          </a:stretch>
        </p:blipFill>
        <p:spPr>
          <a:xfrm>
            <a:off x="8159557" y="4529389"/>
            <a:ext cx="176662" cy="176662"/>
          </a:xfrm>
          <a:prstGeom prst="rect">
            <a:avLst/>
          </a:prstGeom>
        </p:spPr>
      </p:pic>
      <p:sp>
        <p:nvSpPr>
          <p:cNvPr id="56" name="Text 45"/>
          <p:cNvSpPr txBox="1"/>
          <p:nvPr/>
        </p:nvSpPr>
        <p:spPr>
          <a:xfrm>
            <a:off x="8567928" y="4425696"/>
            <a:ext cx="2743200" cy="384048"/>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Private by design</a:t>
            </a:r>
            <a:endParaRPr lang="en-US" sz="1250" dirty="0"/>
          </a:p>
        </p:txBody>
      </p:sp>
      <p:sp>
        <p:nvSpPr>
          <p:cNvPr id="57" name="Text 46"/>
          <p:cNvSpPr txBox="1"/>
          <p:nvPr/>
        </p:nvSpPr>
        <p:spPr>
          <a:xfrm>
            <a:off x="8055864" y="4901184"/>
            <a:ext cx="3246120" cy="658368"/>
          </a:xfrm>
          <a:prstGeom prst="rect">
            <a:avLst/>
          </a:prstGeom>
          <a:noFill/>
          <a:ln/>
        </p:spPr>
        <p:txBody>
          <a:bodyPr wrap="square" lIns="0" tIns="0" rIns="0" bIns="0" rtlCol="0" anchor="ctr"/>
          <a:lstStyle/>
          <a:p>
            <a:pPr indent="0" marL="0">
              <a:lnSpc>
                <a:spcPct val="115000"/>
              </a:lnSpc>
              <a:buNone/>
            </a:pPr>
            <a:r>
              <a:rPr lang="en-US" sz="1050" dirty="0">
                <a:solidFill>
                  <a:srgbClr val="8B949E"/>
                </a:solidFill>
                <a:latin typeface="Calibri" pitchFamily="34" charset="0"/>
                <a:ea typeface="Calibri" pitchFamily="34" charset="-122"/>
                <a:cs typeface="Calibri" pitchFamily="34" charset="-120"/>
              </a:rPr>
              <a:t>LocalStorage only. No server, no API keys, no telemetry — the dataset never leaves the browser.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19"/>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50292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Simulation 1 — Scoring &amp; Prioritisation</a:t>
            </a:r>
            <a:endParaRPr lang="en-US" sz="3200" dirty="0"/>
          </a:p>
        </p:txBody>
      </p:sp>
      <p:sp>
        <p:nvSpPr>
          <p:cNvPr id="3" name="Text 1"/>
          <p:cNvSpPr txBox="1"/>
          <p:nvPr/>
        </p:nvSpPr>
        <p:spPr>
          <a:xfrm>
            <a:off x="594360" y="932688"/>
            <a:ext cx="11002975" cy="292608"/>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One alert, end to end. Illustrative walkthrough using fictional demo data.</a:t>
            </a:r>
            <a:endParaRPr lang="en-US" sz="1350" dirty="0"/>
          </a:p>
        </p:txBody>
      </p:sp>
      <p:sp>
        <p:nvSpPr>
          <p:cNvPr id="4" name="Shape 2"/>
          <p:cNvSpPr/>
          <p:nvPr/>
        </p:nvSpPr>
        <p:spPr>
          <a:xfrm>
            <a:off x="594360" y="1572768"/>
            <a:ext cx="4617720" cy="3310128"/>
          </a:xfrm>
          <a:prstGeom prst="roundRect">
            <a:avLst>
              <a:gd name="adj" fmla="val 1657"/>
            </a:avLst>
          </a:prstGeom>
          <a:solidFill>
            <a:srgbClr val="141B26"/>
          </a:solidFill>
          <a:ln w="12700">
            <a:solidFill>
              <a:srgbClr val="2B3644"/>
            </a:solidFill>
            <a:prstDash val="solid"/>
          </a:ln>
        </p:spPr>
      </p:sp>
      <p:sp>
        <p:nvSpPr>
          <p:cNvPr id="5" name="Text 3"/>
          <p:cNvSpPr txBox="1"/>
          <p:nvPr/>
        </p:nvSpPr>
        <p:spPr>
          <a:xfrm>
            <a:off x="868680" y="1755648"/>
            <a:ext cx="4023360" cy="237744"/>
          </a:xfrm>
          <a:prstGeom prst="rect">
            <a:avLst/>
          </a:prstGeom>
          <a:noFill/>
          <a:ln/>
        </p:spPr>
        <p:txBody>
          <a:bodyPr wrap="square" lIns="0" tIns="0" rIns="0" bIns="0" rtlCol="0" anchor="ctr"/>
          <a:lstStyle/>
          <a:p>
            <a:pPr indent="0" marL="0">
              <a:buNone/>
            </a:pPr>
            <a:r>
              <a:rPr lang="en-US" sz="1000" b="1" spc="110" kern="0" dirty="0">
                <a:solidFill>
                  <a:srgbClr val="58A6FF"/>
                </a:solidFill>
                <a:latin typeface="Arial" pitchFamily="34" charset="0"/>
                <a:ea typeface="Arial" pitchFamily="34" charset="-122"/>
                <a:cs typeface="Arial" pitchFamily="34" charset="-120"/>
              </a:rPr>
              <a:t>INPUT  ·  ALERT-2041</a:t>
            </a:r>
            <a:endParaRPr lang="en-US" sz="1000" dirty="0"/>
          </a:p>
        </p:txBody>
      </p:sp>
      <p:sp>
        <p:nvSpPr>
          <p:cNvPr id="6" name="Text 4"/>
          <p:cNvSpPr txBox="1"/>
          <p:nvPr/>
        </p:nvSpPr>
        <p:spPr>
          <a:xfrm>
            <a:off x="868680" y="2139696"/>
            <a:ext cx="1508760"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Source Type</a:t>
            </a:r>
            <a:endParaRPr lang="en-US" sz="1100" dirty="0"/>
          </a:p>
        </p:txBody>
      </p:sp>
      <p:sp>
        <p:nvSpPr>
          <p:cNvPr id="7" name="Text 5"/>
          <p:cNvSpPr txBox="1"/>
          <p:nvPr/>
        </p:nvSpPr>
        <p:spPr>
          <a:xfrm>
            <a:off x="2377440" y="2139696"/>
            <a:ext cx="2606040" cy="274320"/>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SIEM</a:t>
            </a:r>
            <a:endParaRPr lang="en-US" sz="1100" dirty="0"/>
          </a:p>
        </p:txBody>
      </p:sp>
      <p:sp>
        <p:nvSpPr>
          <p:cNvPr id="8" name="Text 6"/>
          <p:cNvSpPr txBox="1"/>
          <p:nvPr/>
        </p:nvSpPr>
        <p:spPr>
          <a:xfrm>
            <a:off x="868680" y="2468880"/>
            <a:ext cx="1508760"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Alert Type</a:t>
            </a:r>
            <a:endParaRPr lang="en-US" sz="1100" dirty="0"/>
          </a:p>
        </p:txBody>
      </p:sp>
      <p:sp>
        <p:nvSpPr>
          <p:cNvPr id="9" name="Text 7"/>
          <p:cNvSpPr txBox="1"/>
          <p:nvPr/>
        </p:nvSpPr>
        <p:spPr>
          <a:xfrm>
            <a:off x="2377440" y="2468880"/>
            <a:ext cx="2606040" cy="274320"/>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Brute Force Login</a:t>
            </a:r>
            <a:endParaRPr lang="en-US" sz="1100" dirty="0"/>
          </a:p>
        </p:txBody>
      </p:sp>
      <p:sp>
        <p:nvSpPr>
          <p:cNvPr id="10" name="Text 8"/>
          <p:cNvSpPr txBox="1"/>
          <p:nvPr/>
        </p:nvSpPr>
        <p:spPr>
          <a:xfrm>
            <a:off x="868680" y="2798064"/>
            <a:ext cx="1508760"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Severity</a:t>
            </a:r>
            <a:endParaRPr lang="en-US" sz="1100" dirty="0"/>
          </a:p>
        </p:txBody>
      </p:sp>
      <p:sp>
        <p:nvSpPr>
          <p:cNvPr id="11" name="Text 9"/>
          <p:cNvSpPr txBox="1"/>
          <p:nvPr/>
        </p:nvSpPr>
        <p:spPr>
          <a:xfrm>
            <a:off x="2377440" y="2798064"/>
            <a:ext cx="2606040" cy="274320"/>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High</a:t>
            </a:r>
            <a:endParaRPr lang="en-US" sz="1100" dirty="0"/>
          </a:p>
        </p:txBody>
      </p:sp>
      <p:sp>
        <p:nvSpPr>
          <p:cNvPr id="12" name="Text 10"/>
          <p:cNvSpPr txBox="1"/>
          <p:nvPr/>
        </p:nvSpPr>
        <p:spPr>
          <a:xfrm>
            <a:off x="868680" y="3127248"/>
            <a:ext cx="1508760"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Confidence</a:t>
            </a:r>
            <a:endParaRPr lang="en-US" sz="1100" dirty="0"/>
          </a:p>
        </p:txBody>
      </p:sp>
      <p:sp>
        <p:nvSpPr>
          <p:cNvPr id="13" name="Text 11"/>
          <p:cNvSpPr txBox="1"/>
          <p:nvPr/>
        </p:nvSpPr>
        <p:spPr>
          <a:xfrm>
            <a:off x="2377440" y="3127248"/>
            <a:ext cx="2606040" cy="274320"/>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88 / 100</a:t>
            </a:r>
            <a:endParaRPr lang="en-US" sz="1100" dirty="0"/>
          </a:p>
        </p:txBody>
      </p:sp>
      <p:sp>
        <p:nvSpPr>
          <p:cNvPr id="14" name="Text 12"/>
          <p:cNvSpPr txBox="1"/>
          <p:nvPr/>
        </p:nvSpPr>
        <p:spPr>
          <a:xfrm>
            <a:off x="868680" y="3456432"/>
            <a:ext cx="1508760"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Asset</a:t>
            </a:r>
            <a:endParaRPr lang="en-US" sz="1100" dirty="0"/>
          </a:p>
        </p:txBody>
      </p:sp>
      <p:sp>
        <p:nvSpPr>
          <p:cNvPr id="15" name="Text 13"/>
          <p:cNvSpPr txBox="1"/>
          <p:nvPr/>
        </p:nvSpPr>
        <p:spPr>
          <a:xfrm>
            <a:off x="2377440" y="3456432"/>
            <a:ext cx="2606040" cy="274320"/>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INFRA-SRV-01</a:t>
            </a:r>
            <a:endParaRPr lang="en-US" sz="1100" dirty="0"/>
          </a:p>
        </p:txBody>
      </p:sp>
      <p:sp>
        <p:nvSpPr>
          <p:cNvPr id="16" name="Text 14"/>
          <p:cNvSpPr txBox="1"/>
          <p:nvPr/>
        </p:nvSpPr>
        <p:spPr>
          <a:xfrm>
            <a:off x="868680" y="3785616"/>
            <a:ext cx="1508760"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Asset Criticality</a:t>
            </a:r>
            <a:endParaRPr lang="en-US" sz="1100" dirty="0"/>
          </a:p>
        </p:txBody>
      </p:sp>
      <p:sp>
        <p:nvSpPr>
          <p:cNvPr id="17" name="Text 15"/>
          <p:cNvSpPr txBox="1"/>
          <p:nvPr/>
        </p:nvSpPr>
        <p:spPr>
          <a:xfrm>
            <a:off x="2377440" y="3785616"/>
            <a:ext cx="2606040" cy="274320"/>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Critical</a:t>
            </a:r>
            <a:endParaRPr lang="en-US" sz="1100" dirty="0"/>
          </a:p>
        </p:txBody>
      </p:sp>
      <p:sp>
        <p:nvSpPr>
          <p:cNvPr id="18" name="Text 16"/>
          <p:cNvSpPr txBox="1"/>
          <p:nvPr/>
        </p:nvSpPr>
        <p:spPr>
          <a:xfrm>
            <a:off x="868680" y="4114800"/>
            <a:ext cx="1508760"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MITRE</a:t>
            </a:r>
            <a:endParaRPr lang="en-US" sz="1100" dirty="0"/>
          </a:p>
        </p:txBody>
      </p:sp>
      <p:sp>
        <p:nvSpPr>
          <p:cNvPr id="19" name="Text 17"/>
          <p:cNvSpPr txBox="1"/>
          <p:nvPr/>
        </p:nvSpPr>
        <p:spPr>
          <a:xfrm>
            <a:off x="2377440" y="4114800"/>
            <a:ext cx="2606040" cy="274320"/>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T1110 · Credential Access</a:t>
            </a:r>
            <a:endParaRPr lang="en-US" sz="1100" dirty="0"/>
          </a:p>
        </p:txBody>
      </p:sp>
      <p:sp>
        <p:nvSpPr>
          <p:cNvPr id="20" name="Text 18"/>
          <p:cNvSpPr txBox="1"/>
          <p:nvPr/>
        </p:nvSpPr>
        <p:spPr>
          <a:xfrm>
            <a:off x="868680" y="4443984"/>
            <a:ext cx="1508760"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Source IP</a:t>
            </a:r>
            <a:endParaRPr lang="en-US" sz="1100" dirty="0"/>
          </a:p>
        </p:txBody>
      </p:sp>
      <p:sp>
        <p:nvSpPr>
          <p:cNvPr id="21" name="Text 19"/>
          <p:cNvSpPr txBox="1"/>
          <p:nvPr/>
        </p:nvSpPr>
        <p:spPr>
          <a:xfrm>
            <a:off x="2377440" y="4443984"/>
            <a:ext cx="2606040" cy="274320"/>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203.0.113.45</a:t>
            </a:r>
            <a:endParaRPr lang="en-US" sz="1100" dirty="0"/>
          </a:p>
        </p:txBody>
      </p:sp>
      <p:sp>
        <p:nvSpPr>
          <p:cNvPr id="22" name="Shape 20"/>
          <p:cNvSpPr/>
          <p:nvPr/>
        </p:nvSpPr>
        <p:spPr>
          <a:xfrm>
            <a:off x="5413248" y="3035808"/>
            <a:ext cx="420624" cy="384048"/>
          </a:xfrm>
          <a:prstGeom prst="rightArrow">
            <a:avLst/>
          </a:prstGeom>
          <a:solidFill>
            <a:srgbClr val="58A6FF"/>
          </a:solidFill>
          <a:ln/>
        </p:spPr>
      </p:sp>
      <p:sp>
        <p:nvSpPr>
          <p:cNvPr id="23" name="Shape 21"/>
          <p:cNvSpPr/>
          <p:nvPr/>
        </p:nvSpPr>
        <p:spPr>
          <a:xfrm>
            <a:off x="6035040" y="1572768"/>
            <a:ext cx="5559552" cy="1481328"/>
          </a:xfrm>
          <a:prstGeom prst="roundRect">
            <a:avLst>
              <a:gd name="adj" fmla="val 3704"/>
            </a:avLst>
          </a:prstGeom>
          <a:solidFill>
            <a:srgbClr val="1B2431"/>
          </a:solidFill>
          <a:ln w="12700">
            <a:solidFill>
              <a:srgbClr val="2B3644"/>
            </a:solidFill>
            <a:prstDash val="solid"/>
          </a:ln>
        </p:spPr>
      </p:sp>
      <p:sp>
        <p:nvSpPr>
          <p:cNvPr id="24" name="Text 22"/>
          <p:cNvSpPr txBox="1"/>
          <p:nvPr/>
        </p:nvSpPr>
        <p:spPr>
          <a:xfrm>
            <a:off x="6309360" y="1737360"/>
            <a:ext cx="1828800" cy="219456"/>
          </a:xfrm>
          <a:prstGeom prst="rect">
            <a:avLst/>
          </a:prstGeom>
          <a:noFill/>
          <a:ln/>
        </p:spPr>
        <p:txBody>
          <a:bodyPr wrap="square" lIns="0" tIns="0" rIns="0" bIns="0" rtlCol="0" anchor="ctr"/>
          <a:lstStyle/>
          <a:p>
            <a:pPr indent="0" marL="0">
              <a:buNone/>
            </a:pPr>
            <a:r>
              <a:rPr lang="en-US" sz="1000" b="1" spc="110" kern="0" dirty="0">
                <a:solidFill>
                  <a:srgbClr val="58A6FF"/>
                </a:solidFill>
                <a:latin typeface="Arial" pitchFamily="34" charset="0"/>
                <a:ea typeface="Arial" pitchFamily="34" charset="-122"/>
                <a:cs typeface="Arial" pitchFamily="34" charset="-120"/>
              </a:rPr>
              <a:t>OUTPUT</a:t>
            </a:r>
            <a:endParaRPr lang="en-US" sz="1000" dirty="0"/>
          </a:p>
        </p:txBody>
      </p:sp>
      <p:sp>
        <p:nvSpPr>
          <p:cNvPr id="25" name="Text 23"/>
          <p:cNvSpPr txBox="1"/>
          <p:nvPr/>
        </p:nvSpPr>
        <p:spPr>
          <a:xfrm>
            <a:off x="6291072" y="2011680"/>
            <a:ext cx="1463040" cy="868680"/>
          </a:xfrm>
          <a:prstGeom prst="rect">
            <a:avLst/>
          </a:prstGeom>
          <a:noFill/>
          <a:ln/>
        </p:spPr>
        <p:txBody>
          <a:bodyPr wrap="square" lIns="0" tIns="0" rIns="0" bIns="0" rtlCol="0" anchor="ctr"/>
          <a:lstStyle/>
          <a:p>
            <a:pPr indent="0" marL="0">
              <a:buNone/>
            </a:pPr>
            <a:r>
              <a:rPr lang="en-US" sz="5400" b="1" dirty="0">
                <a:solidFill>
                  <a:srgbClr val="E3B341"/>
                </a:solidFill>
                <a:latin typeface="Arial" pitchFamily="34" charset="0"/>
                <a:ea typeface="Arial" pitchFamily="34" charset="-122"/>
                <a:cs typeface="Arial" pitchFamily="34" charset="-120"/>
              </a:rPr>
              <a:t>84</a:t>
            </a:r>
            <a:endParaRPr lang="en-US" sz="5400" dirty="0"/>
          </a:p>
        </p:txBody>
      </p:sp>
      <p:sp>
        <p:nvSpPr>
          <p:cNvPr id="26" name="Text 24"/>
          <p:cNvSpPr txBox="1"/>
          <p:nvPr/>
        </p:nvSpPr>
        <p:spPr>
          <a:xfrm>
            <a:off x="7699248" y="2176272"/>
            <a:ext cx="2194560" cy="256032"/>
          </a:xfrm>
          <a:prstGeom prst="rect">
            <a:avLst/>
          </a:prstGeom>
          <a:noFill/>
          <a:ln/>
        </p:spPr>
        <p:txBody>
          <a:bodyPr wrap="square" lIns="0" tIns="0" rIns="0" bIns="0" rtlCol="0" anchor="ctr"/>
          <a:lstStyle/>
          <a:p>
            <a:pPr indent="0" marL="0">
              <a:buNone/>
            </a:pPr>
            <a:r>
              <a:rPr lang="en-US" sz="1000" b="1" spc="80" kern="0" dirty="0">
                <a:solidFill>
                  <a:srgbClr val="8B949E"/>
                </a:solidFill>
                <a:latin typeface="Arial" pitchFamily="34" charset="0"/>
                <a:ea typeface="Arial" pitchFamily="34" charset="-122"/>
                <a:cs typeface="Arial" pitchFamily="34" charset="-120"/>
              </a:rPr>
              <a:t>RISK SCORE  (0–100)</a:t>
            </a:r>
            <a:endParaRPr lang="en-US" sz="1000" dirty="0"/>
          </a:p>
        </p:txBody>
      </p:sp>
      <p:sp>
        <p:nvSpPr>
          <p:cNvPr id="27" name="Text 25"/>
          <p:cNvSpPr txBox="1"/>
          <p:nvPr/>
        </p:nvSpPr>
        <p:spPr>
          <a:xfrm>
            <a:off x="7699248" y="2450592"/>
            <a:ext cx="2377440" cy="274320"/>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Escalates above the P1 threshold</a:t>
            </a:r>
            <a:endParaRPr lang="en-US" sz="1150" dirty="0"/>
          </a:p>
        </p:txBody>
      </p:sp>
      <p:sp>
        <p:nvSpPr>
          <p:cNvPr id="28" name="Shape 26"/>
          <p:cNvSpPr/>
          <p:nvPr/>
        </p:nvSpPr>
        <p:spPr>
          <a:xfrm>
            <a:off x="10241280" y="2121408"/>
            <a:ext cx="1078992" cy="566928"/>
          </a:xfrm>
          <a:prstGeom prst="roundRect">
            <a:avLst>
              <a:gd name="adj" fmla="val 16129"/>
            </a:avLst>
          </a:prstGeom>
          <a:solidFill>
            <a:srgbClr val="2A1418"/>
          </a:solidFill>
          <a:ln w="12700">
            <a:solidFill>
              <a:srgbClr val="F85149"/>
            </a:solidFill>
            <a:prstDash val="solid"/>
          </a:ln>
        </p:spPr>
      </p:sp>
      <p:sp>
        <p:nvSpPr>
          <p:cNvPr id="29" name="Text 27"/>
          <p:cNvSpPr txBox="1"/>
          <p:nvPr/>
        </p:nvSpPr>
        <p:spPr>
          <a:xfrm>
            <a:off x="10241280" y="2121408"/>
            <a:ext cx="1078992" cy="566928"/>
          </a:xfrm>
          <a:prstGeom prst="rect">
            <a:avLst/>
          </a:prstGeom>
          <a:noFill/>
          <a:ln/>
        </p:spPr>
        <p:txBody>
          <a:bodyPr wrap="square" lIns="0" tIns="0" rIns="0" bIns="0" rtlCol="0" anchor="ctr"/>
          <a:lstStyle/>
          <a:p>
            <a:pPr algn="ctr" indent="0" marL="0">
              <a:buNone/>
            </a:pPr>
            <a:r>
              <a:rPr lang="en-US" sz="950" b="1" spc="60" kern="0" dirty="0">
                <a:solidFill>
                  <a:srgbClr val="F85149"/>
                </a:solidFill>
                <a:latin typeface="Arial" pitchFamily="34" charset="0"/>
                <a:ea typeface="Arial" pitchFamily="34" charset="-122"/>
                <a:cs typeface="Arial" pitchFamily="34" charset="-120"/>
              </a:rPr>
              <a:t>P1</a:t>
            </a:r>
            <a:endParaRPr lang="en-US" sz="950" dirty="0"/>
          </a:p>
        </p:txBody>
      </p:sp>
      <p:sp>
        <p:nvSpPr>
          <p:cNvPr id="30" name="Shape 28"/>
          <p:cNvSpPr/>
          <p:nvPr/>
        </p:nvSpPr>
        <p:spPr>
          <a:xfrm>
            <a:off x="6035040" y="3255264"/>
            <a:ext cx="5559552" cy="1627632"/>
          </a:xfrm>
          <a:prstGeom prst="roundRect">
            <a:avLst>
              <a:gd name="adj" fmla="val 3371"/>
            </a:avLst>
          </a:prstGeom>
          <a:solidFill>
            <a:srgbClr val="141B26"/>
          </a:solidFill>
          <a:ln w="12700">
            <a:solidFill>
              <a:srgbClr val="2B3644"/>
            </a:solidFill>
            <a:prstDash val="solid"/>
          </a:ln>
        </p:spPr>
      </p:sp>
      <p:sp>
        <p:nvSpPr>
          <p:cNvPr id="31" name="Text 29"/>
          <p:cNvSpPr txBox="1"/>
          <p:nvPr/>
        </p:nvSpPr>
        <p:spPr>
          <a:xfrm>
            <a:off x="6309360" y="3401568"/>
            <a:ext cx="2743200" cy="219456"/>
          </a:xfrm>
          <a:prstGeom prst="rect">
            <a:avLst/>
          </a:prstGeom>
          <a:noFill/>
          <a:ln/>
        </p:spPr>
        <p:txBody>
          <a:bodyPr wrap="square" lIns="0" tIns="0" rIns="0" bIns="0" rtlCol="0" anchor="ctr"/>
          <a:lstStyle/>
          <a:p>
            <a:pPr indent="0" marL="0">
              <a:buNone/>
            </a:pPr>
            <a:r>
              <a:rPr lang="en-US" sz="1000" b="1" spc="110" kern="0" dirty="0">
                <a:solidFill>
                  <a:srgbClr val="58A6FF"/>
                </a:solidFill>
                <a:latin typeface="Arial" pitchFamily="34" charset="0"/>
                <a:ea typeface="Arial" pitchFamily="34" charset="-122"/>
                <a:cs typeface="Arial" pitchFamily="34" charset="-120"/>
              </a:rPr>
              <a:t>PRIORITY BANDS</a:t>
            </a:r>
            <a:endParaRPr lang="en-US" sz="1000" dirty="0"/>
          </a:p>
        </p:txBody>
      </p:sp>
      <p:sp>
        <p:nvSpPr>
          <p:cNvPr id="32" name="Shape 30"/>
          <p:cNvSpPr/>
          <p:nvPr/>
        </p:nvSpPr>
        <p:spPr>
          <a:xfrm>
            <a:off x="6327648" y="3803904"/>
            <a:ext cx="118872" cy="118872"/>
          </a:xfrm>
          <a:prstGeom prst="ellipse">
            <a:avLst/>
          </a:prstGeom>
          <a:solidFill>
            <a:srgbClr val="F85149"/>
          </a:solidFill>
          <a:ln/>
        </p:spPr>
      </p:sp>
      <p:sp>
        <p:nvSpPr>
          <p:cNvPr id="33" name="Text 31"/>
          <p:cNvSpPr txBox="1"/>
          <p:nvPr/>
        </p:nvSpPr>
        <p:spPr>
          <a:xfrm>
            <a:off x="6583680" y="3730752"/>
            <a:ext cx="457200" cy="256032"/>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P1</a:t>
            </a:r>
            <a:endParaRPr lang="en-US" sz="1100" dirty="0"/>
          </a:p>
        </p:txBody>
      </p:sp>
      <p:sp>
        <p:nvSpPr>
          <p:cNvPr id="34" name="Text 32"/>
          <p:cNvSpPr txBox="1"/>
          <p:nvPr/>
        </p:nvSpPr>
        <p:spPr>
          <a:xfrm>
            <a:off x="7086600" y="3730752"/>
            <a:ext cx="1005840" cy="256032"/>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80–100</a:t>
            </a:r>
            <a:endParaRPr lang="en-US" sz="1100" dirty="0"/>
          </a:p>
        </p:txBody>
      </p:sp>
      <p:sp>
        <p:nvSpPr>
          <p:cNvPr id="35" name="Text 33"/>
          <p:cNvSpPr txBox="1"/>
          <p:nvPr/>
        </p:nvSpPr>
        <p:spPr>
          <a:xfrm>
            <a:off x="8183880" y="3730752"/>
            <a:ext cx="3108960" cy="256032"/>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Immediate response</a:t>
            </a:r>
            <a:endParaRPr lang="en-US" sz="1100" dirty="0"/>
          </a:p>
        </p:txBody>
      </p:sp>
      <p:sp>
        <p:nvSpPr>
          <p:cNvPr id="36" name="Shape 34"/>
          <p:cNvSpPr/>
          <p:nvPr/>
        </p:nvSpPr>
        <p:spPr>
          <a:xfrm>
            <a:off x="6327648" y="4078224"/>
            <a:ext cx="118872" cy="118872"/>
          </a:xfrm>
          <a:prstGeom prst="ellipse">
            <a:avLst/>
          </a:prstGeom>
          <a:solidFill>
            <a:srgbClr val="E3B341"/>
          </a:solidFill>
          <a:ln/>
        </p:spPr>
      </p:sp>
      <p:sp>
        <p:nvSpPr>
          <p:cNvPr id="37" name="Text 35"/>
          <p:cNvSpPr txBox="1"/>
          <p:nvPr/>
        </p:nvSpPr>
        <p:spPr>
          <a:xfrm>
            <a:off x="6583680" y="4005072"/>
            <a:ext cx="457200" cy="256032"/>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P2</a:t>
            </a:r>
            <a:endParaRPr lang="en-US" sz="1100" dirty="0"/>
          </a:p>
        </p:txBody>
      </p:sp>
      <p:sp>
        <p:nvSpPr>
          <p:cNvPr id="38" name="Text 36"/>
          <p:cNvSpPr txBox="1"/>
          <p:nvPr/>
        </p:nvSpPr>
        <p:spPr>
          <a:xfrm>
            <a:off x="7086600" y="4005072"/>
            <a:ext cx="1005840" cy="256032"/>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60–79</a:t>
            </a:r>
            <a:endParaRPr lang="en-US" sz="1100" dirty="0"/>
          </a:p>
        </p:txBody>
      </p:sp>
      <p:sp>
        <p:nvSpPr>
          <p:cNvPr id="39" name="Text 37"/>
          <p:cNvSpPr txBox="1"/>
          <p:nvPr/>
        </p:nvSpPr>
        <p:spPr>
          <a:xfrm>
            <a:off x="8183880" y="4005072"/>
            <a:ext cx="3108960" cy="256032"/>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Same-shift triage</a:t>
            </a:r>
            <a:endParaRPr lang="en-US" sz="1100" dirty="0"/>
          </a:p>
        </p:txBody>
      </p:sp>
      <p:sp>
        <p:nvSpPr>
          <p:cNvPr id="40" name="Shape 38"/>
          <p:cNvSpPr/>
          <p:nvPr/>
        </p:nvSpPr>
        <p:spPr>
          <a:xfrm>
            <a:off x="6327648" y="4352544"/>
            <a:ext cx="118872" cy="118872"/>
          </a:xfrm>
          <a:prstGeom prst="ellipse">
            <a:avLst/>
          </a:prstGeom>
          <a:solidFill>
            <a:srgbClr val="3FB950"/>
          </a:solidFill>
          <a:ln/>
        </p:spPr>
      </p:sp>
      <p:sp>
        <p:nvSpPr>
          <p:cNvPr id="41" name="Text 39"/>
          <p:cNvSpPr txBox="1"/>
          <p:nvPr/>
        </p:nvSpPr>
        <p:spPr>
          <a:xfrm>
            <a:off x="6583680" y="4279392"/>
            <a:ext cx="457200" cy="256032"/>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P3</a:t>
            </a:r>
            <a:endParaRPr lang="en-US" sz="1100" dirty="0"/>
          </a:p>
        </p:txBody>
      </p:sp>
      <p:sp>
        <p:nvSpPr>
          <p:cNvPr id="42" name="Text 40"/>
          <p:cNvSpPr txBox="1"/>
          <p:nvPr/>
        </p:nvSpPr>
        <p:spPr>
          <a:xfrm>
            <a:off x="7086600" y="4279392"/>
            <a:ext cx="1005840" cy="256032"/>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35–59</a:t>
            </a:r>
            <a:endParaRPr lang="en-US" sz="1100" dirty="0"/>
          </a:p>
        </p:txBody>
      </p:sp>
      <p:sp>
        <p:nvSpPr>
          <p:cNvPr id="43" name="Text 41"/>
          <p:cNvSpPr txBox="1"/>
          <p:nvPr/>
        </p:nvSpPr>
        <p:spPr>
          <a:xfrm>
            <a:off x="8183880" y="4279392"/>
            <a:ext cx="3108960" cy="256032"/>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Queue for review</a:t>
            </a:r>
            <a:endParaRPr lang="en-US" sz="1100" dirty="0"/>
          </a:p>
        </p:txBody>
      </p:sp>
      <p:sp>
        <p:nvSpPr>
          <p:cNvPr id="44" name="Shape 42"/>
          <p:cNvSpPr/>
          <p:nvPr/>
        </p:nvSpPr>
        <p:spPr>
          <a:xfrm>
            <a:off x="6327648" y="4626864"/>
            <a:ext cx="118872" cy="118872"/>
          </a:xfrm>
          <a:prstGeom prst="ellipse">
            <a:avLst/>
          </a:prstGeom>
          <a:solidFill>
            <a:srgbClr val="388BFD"/>
          </a:solidFill>
          <a:ln/>
        </p:spPr>
      </p:sp>
      <p:sp>
        <p:nvSpPr>
          <p:cNvPr id="45" name="Text 43"/>
          <p:cNvSpPr txBox="1"/>
          <p:nvPr/>
        </p:nvSpPr>
        <p:spPr>
          <a:xfrm>
            <a:off x="6583680" y="4553712"/>
            <a:ext cx="457200" cy="256032"/>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P4</a:t>
            </a:r>
            <a:endParaRPr lang="en-US" sz="1100" dirty="0"/>
          </a:p>
        </p:txBody>
      </p:sp>
      <p:sp>
        <p:nvSpPr>
          <p:cNvPr id="46" name="Text 44"/>
          <p:cNvSpPr txBox="1"/>
          <p:nvPr/>
        </p:nvSpPr>
        <p:spPr>
          <a:xfrm>
            <a:off x="7086600" y="4553712"/>
            <a:ext cx="1005840" cy="256032"/>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0–34</a:t>
            </a:r>
            <a:endParaRPr lang="en-US" sz="1100" dirty="0"/>
          </a:p>
        </p:txBody>
      </p:sp>
      <p:sp>
        <p:nvSpPr>
          <p:cNvPr id="47" name="Text 45"/>
          <p:cNvSpPr txBox="1"/>
          <p:nvPr/>
        </p:nvSpPr>
        <p:spPr>
          <a:xfrm>
            <a:off x="8183880" y="4553712"/>
            <a:ext cx="3108960" cy="256032"/>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Monitor only</a:t>
            </a:r>
            <a:endParaRPr lang="en-US" sz="1100" dirty="0"/>
          </a:p>
        </p:txBody>
      </p:sp>
      <p:sp>
        <p:nvSpPr>
          <p:cNvPr id="48" name="Shape 46"/>
          <p:cNvSpPr/>
          <p:nvPr/>
        </p:nvSpPr>
        <p:spPr>
          <a:xfrm>
            <a:off x="594360" y="5102352"/>
            <a:ext cx="11002975" cy="1143000"/>
          </a:xfrm>
          <a:prstGeom prst="roundRect">
            <a:avLst>
              <a:gd name="adj" fmla="val 4800"/>
            </a:avLst>
          </a:prstGeom>
          <a:solidFill>
            <a:srgbClr val="1B2431"/>
          </a:solidFill>
          <a:ln w="12700">
            <a:solidFill>
              <a:srgbClr val="2B3644"/>
            </a:solidFill>
            <a:prstDash val="solid"/>
          </a:ln>
        </p:spPr>
      </p:sp>
      <p:sp>
        <p:nvSpPr>
          <p:cNvPr id="49" name="Text 47"/>
          <p:cNvSpPr txBox="1"/>
          <p:nvPr/>
        </p:nvSpPr>
        <p:spPr>
          <a:xfrm>
            <a:off x="886968" y="5266944"/>
            <a:ext cx="2743200" cy="219456"/>
          </a:xfrm>
          <a:prstGeom prst="rect">
            <a:avLst/>
          </a:prstGeom>
          <a:noFill/>
          <a:ln/>
        </p:spPr>
        <p:txBody>
          <a:bodyPr wrap="square" lIns="0" tIns="0" rIns="0" bIns="0" rtlCol="0" anchor="ctr"/>
          <a:lstStyle/>
          <a:p>
            <a:pPr indent="0" marL="0">
              <a:buNone/>
            </a:pPr>
            <a:r>
              <a:rPr lang="en-US" sz="950" b="1" spc="120" kern="0" dirty="0">
                <a:solidFill>
                  <a:srgbClr val="58A6FF"/>
                </a:solidFill>
                <a:latin typeface="Arial" pitchFamily="34" charset="0"/>
                <a:ea typeface="Arial" pitchFamily="34" charset="-122"/>
                <a:cs typeface="Arial" pitchFamily="34" charset="-120"/>
              </a:rPr>
              <a:t>WHY IT RANKS P1</a:t>
            </a:r>
            <a:endParaRPr lang="en-US" sz="950" dirty="0"/>
          </a:p>
        </p:txBody>
      </p:sp>
      <p:sp>
        <p:nvSpPr>
          <p:cNvPr id="50" name="Text 48"/>
          <p:cNvSpPr txBox="1"/>
          <p:nvPr/>
        </p:nvSpPr>
        <p:spPr>
          <a:xfrm>
            <a:off x="886968" y="5522976"/>
            <a:ext cx="10417759" cy="621792"/>
          </a:xfrm>
          <a:prstGeom prst="rect">
            <a:avLst/>
          </a:prstGeom>
          <a:noFill/>
          <a:ln/>
        </p:spPr>
        <p:txBody>
          <a:bodyPr wrap="square" lIns="0" tIns="0" rIns="0" bIns="0" rtlCol="0" anchor="ctr"/>
          <a:lstStyle/>
          <a:p>
            <a:pPr indent="0" marL="0">
              <a:lnSpc>
                <a:spcPct val="115000"/>
              </a:lnSpc>
              <a:buNone/>
            </a:pPr>
            <a:r>
              <a:rPr lang="en-US" sz="1200" dirty="0">
                <a:solidFill>
                  <a:srgbClr val="E6EDF3"/>
                </a:solidFill>
                <a:latin typeface="Calibri" pitchFamily="34" charset="0"/>
                <a:ea typeface="Calibri" pitchFamily="34" charset="-122"/>
                <a:cs typeface="Calibri" pitchFamily="34" charset="-120"/>
              </a:rPr>
              <a:t>Severity and detection confidence are both high, and the target is a Critical asset — so the score clears the P1 threshold even though brute force is a common, low-sophistication technique. The identical alert against a Low-criticality test machine drops into P3 and waits its turn. That is the whole idea: rank by consequence, not by label.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19"/>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50292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Simulation 2 — Correlation &amp; False-Positive Triage</a:t>
            </a:r>
            <a:endParaRPr lang="en-US" sz="3200" dirty="0"/>
          </a:p>
        </p:txBody>
      </p:sp>
      <p:sp>
        <p:nvSpPr>
          <p:cNvPr id="3" name="Text 1"/>
          <p:cNvSpPr txBox="1"/>
          <p:nvPr/>
        </p:nvSpPr>
        <p:spPr>
          <a:xfrm>
            <a:off x="594360" y="932688"/>
            <a:ext cx="11002975" cy="292608"/>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Five raw alerts become one incident. Illustrative walkthrough using fictional demo data.</a:t>
            </a:r>
            <a:endParaRPr lang="en-US" sz="1350" dirty="0"/>
          </a:p>
        </p:txBody>
      </p:sp>
      <p:sp>
        <p:nvSpPr>
          <p:cNvPr id="4" name="Shape 2"/>
          <p:cNvSpPr/>
          <p:nvPr/>
        </p:nvSpPr>
        <p:spPr>
          <a:xfrm>
            <a:off x="594360" y="1572768"/>
            <a:ext cx="5029200" cy="3200400"/>
          </a:xfrm>
          <a:prstGeom prst="roundRect">
            <a:avLst>
              <a:gd name="adj" fmla="val 1714"/>
            </a:avLst>
          </a:prstGeom>
          <a:solidFill>
            <a:srgbClr val="141B26"/>
          </a:solidFill>
          <a:ln w="12700">
            <a:solidFill>
              <a:srgbClr val="2B3644"/>
            </a:solidFill>
            <a:prstDash val="solid"/>
          </a:ln>
        </p:spPr>
      </p:sp>
      <p:sp>
        <p:nvSpPr>
          <p:cNvPr id="5" name="Text 3"/>
          <p:cNvSpPr txBox="1"/>
          <p:nvPr/>
        </p:nvSpPr>
        <p:spPr>
          <a:xfrm>
            <a:off x="850392" y="1737360"/>
            <a:ext cx="4572000" cy="237744"/>
          </a:xfrm>
          <a:prstGeom prst="rect">
            <a:avLst/>
          </a:prstGeom>
          <a:noFill/>
          <a:ln/>
        </p:spPr>
        <p:txBody>
          <a:bodyPr wrap="square" lIns="0" tIns="0" rIns="0" bIns="0" rtlCol="0" anchor="ctr"/>
          <a:lstStyle/>
          <a:p>
            <a:pPr indent="0" marL="0">
              <a:buNone/>
            </a:pPr>
            <a:r>
              <a:rPr lang="en-US" sz="950" b="1" spc="90" kern="0" dirty="0">
                <a:solidFill>
                  <a:srgbClr val="8B949E"/>
                </a:solidFill>
                <a:latin typeface="Arial" pitchFamily="34" charset="0"/>
                <a:ea typeface="Arial" pitchFamily="34" charset="-122"/>
                <a:cs typeface="Arial" pitchFamily="34" charset="-120"/>
              </a:rPr>
              <a:t>BEFORE  ·  FIVE SEPARATE ROWS IN THE QUEUE</a:t>
            </a:r>
            <a:endParaRPr lang="en-US" sz="950" dirty="0"/>
          </a:p>
        </p:txBody>
      </p:sp>
      <p:sp>
        <p:nvSpPr>
          <p:cNvPr id="6" name="Shape 4"/>
          <p:cNvSpPr/>
          <p:nvPr/>
        </p:nvSpPr>
        <p:spPr>
          <a:xfrm>
            <a:off x="850392" y="2103120"/>
            <a:ext cx="4517136" cy="329184"/>
          </a:xfrm>
          <a:prstGeom prst="roundRect">
            <a:avLst>
              <a:gd name="adj" fmla="val 13889"/>
            </a:avLst>
          </a:prstGeom>
          <a:solidFill>
            <a:srgbClr val="1B2431"/>
          </a:solidFill>
          <a:ln/>
        </p:spPr>
      </p:sp>
      <p:sp>
        <p:nvSpPr>
          <p:cNvPr id="7" name="Shape 5"/>
          <p:cNvSpPr/>
          <p:nvPr/>
        </p:nvSpPr>
        <p:spPr>
          <a:xfrm>
            <a:off x="978408" y="2212848"/>
            <a:ext cx="109728" cy="109728"/>
          </a:xfrm>
          <a:prstGeom prst="ellipse">
            <a:avLst/>
          </a:prstGeom>
          <a:solidFill>
            <a:srgbClr val="E3B341"/>
          </a:solidFill>
          <a:ln/>
        </p:spPr>
      </p:sp>
      <p:sp>
        <p:nvSpPr>
          <p:cNvPr id="8" name="Text 6"/>
          <p:cNvSpPr txBox="1"/>
          <p:nvPr/>
        </p:nvSpPr>
        <p:spPr>
          <a:xfrm>
            <a:off x="1197864" y="2103120"/>
            <a:ext cx="1371600" cy="329184"/>
          </a:xfrm>
          <a:prstGeom prst="rect">
            <a:avLst/>
          </a:prstGeom>
          <a:noFill/>
          <a:ln/>
        </p:spPr>
        <p:txBody>
          <a:bodyPr wrap="square" lIns="0" tIns="0" rIns="0" bIns="0" rtlCol="0" anchor="ctr"/>
          <a:lstStyle/>
          <a:p>
            <a:pPr indent="0" marL="0">
              <a:buNone/>
            </a:pPr>
            <a:r>
              <a:rPr lang="en-US" sz="1050" dirty="0">
                <a:solidFill>
                  <a:srgbClr val="E6EDF3"/>
                </a:solidFill>
                <a:latin typeface="Courier New" pitchFamily="34" charset="0"/>
                <a:ea typeface="Courier New" pitchFamily="34" charset="-122"/>
                <a:cs typeface="Courier New" pitchFamily="34" charset="-120"/>
              </a:rPr>
              <a:t>ALERT-2041</a:t>
            </a:r>
            <a:endParaRPr lang="en-US" sz="1050" dirty="0"/>
          </a:p>
        </p:txBody>
      </p:sp>
      <p:sp>
        <p:nvSpPr>
          <p:cNvPr id="9" name="Text 7"/>
          <p:cNvSpPr txBox="1"/>
          <p:nvPr/>
        </p:nvSpPr>
        <p:spPr>
          <a:xfrm>
            <a:off x="2606040" y="2103120"/>
            <a:ext cx="2651760" cy="329184"/>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Brute Force Login</a:t>
            </a:r>
            <a:endParaRPr lang="en-US" sz="1100" dirty="0"/>
          </a:p>
        </p:txBody>
      </p:sp>
      <p:sp>
        <p:nvSpPr>
          <p:cNvPr id="10" name="Shape 8"/>
          <p:cNvSpPr/>
          <p:nvPr/>
        </p:nvSpPr>
        <p:spPr>
          <a:xfrm>
            <a:off x="850392" y="2505456"/>
            <a:ext cx="4517136" cy="329184"/>
          </a:xfrm>
          <a:prstGeom prst="roundRect">
            <a:avLst>
              <a:gd name="adj" fmla="val 13889"/>
            </a:avLst>
          </a:prstGeom>
          <a:solidFill>
            <a:srgbClr val="1B2431"/>
          </a:solidFill>
          <a:ln/>
        </p:spPr>
      </p:sp>
      <p:sp>
        <p:nvSpPr>
          <p:cNvPr id="11" name="Shape 9"/>
          <p:cNvSpPr/>
          <p:nvPr/>
        </p:nvSpPr>
        <p:spPr>
          <a:xfrm>
            <a:off x="978408" y="2615184"/>
            <a:ext cx="109728" cy="109728"/>
          </a:xfrm>
          <a:prstGeom prst="ellipse">
            <a:avLst/>
          </a:prstGeom>
          <a:solidFill>
            <a:srgbClr val="3FB950"/>
          </a:solidFill>
          <a:ln/>
        </p:spPr>
      </p:sp>
      <p:sp>
        <p:nvSpPr>
          <p:cNvPr id="12" name="Text 10"/>
          <p:cNvSpPr txBox="1"/>
          <p:nvPr/>
        </p:nvSpPr>
        <p:spPr>
          <a:xfrm>
            <a:off x="1197864" y="2505456"/>
            <a:ext cx="1371600" cy="329184"/>
          </a:xfrm>
          <a:prstGeom prst="rect">
            <a:avLst/>
          </a:prstGeom>
          <a:noFill/>
          <a:ln/>
        </p:spPr>
        <p:txBody>
          <a:bodyPr wrap="square" lIns="0" tIns="0" rIns="0" bIns="0" rtlCol="0" anchor="ctr"/>
          <a:lstStyle/>
          <a:p>
            <a:pPr indent="0" marL="0">
              <a:buNone/>
            </a:pPr>
            <a:r>
              <a:rPr lang="en-US" sz="1050" dirty="0">
                <a:solidFill>
                  <a:srgbClr val="E6EDF3"/>
                </a:solidFill>
                <a:latin typeface="Courier New" pitchFamily="34" charset="0"/>
                <a:ea typeface="Courier New" pitchFamily="34" charset="-122"/>
                <a:cs typeface="Courier New" pitchFamily="34" charset="-120"/>
              </a:rPr>
              <a:t>ALERT-2043</a:t>
            </a:r>
            <a:endParaRPr lang="en-US" sz="1050" dirty="0"/>
          </a:p>
        </p:txBody>
      </p:sp>
      <p:sp>
        <p:nvSpPr>
          <p:cNvPr id="13" name="Text 11"/>
          <p:cNvSpPr txBox="1"/>
          <p:nvPr/>
        </p:nvSpPr>
        <p:spPr>
          <a:xfrm>
            <a:off x="2606040" y="2505456"/>
            <a:ext cx="2651760" cy="329184"/>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Failed Auth Spike</a:t>
            </a:r>
            <a:endParaRPr lang="en-US" sz="1100" dirty="0"/>
          </a:p>
        </p:txBody>
      </p:sp>
      <p:sp>
        <p:nvSpPr>
          <p:cNvPr id="14" name="Shape 12"/>
          <p:cNvSpPr/>
          <p:nvPr/>
        </p:nvSpPr>
        <p:spPr>
          <a:xfrm>
            <a:off x="850392" y="2907792"/>
            <a:ext cx="4517136" cy="329184"/>
          </a:xfrm>
          <a:prstGeom prst="roundRect">
            <a:avLst>
              <a:gd name="adj" fmla="val 13889"/>
            </a:avLst>
          </a:prstGeom>
          <a:solidFill>
            <a:srgbClr val="1B2431"/>
          </a:solidFill>
          <a:ln/>
        </p:spPr>
      </p:sp>
      <p:sp>
        <p:nvSpPr>
          <p:cNvPr id="15" name="Shape 13"/>
          <p:cNvSpPr/>
          <p:nvPr/>
        </p:nvSpPr>
        <p:spPr>
          <a:xfrm>
            <a:off x="978408" y="3017520"/>
            <a:ext cx="109728" cy="109728"/>
          </a:xfrm>
          <a:prstGeom prst="ellipse">
            <a:avLst/>
          </a:prstGeom>
          <a:solidFill>
            <a:srgbClr val="3FB950"/>
          </a:solidFill>
          <a:ln/>
        </p:spPr>
      </p:sp>
      <p:sp>
        <p:nvSpPr>
          <p:cNvPr id="16" name="Text 14"/>
          <p:cNvSpPr txBox="1"/>
          <p:nvPr/>
        </p:nvSpPr>
        <p:spPr>
          <a:xfrm>
            <a:off x="1197864" y="2907792"/>
            <a:ext cx="1371600" cy="329184"/>
          </a:xfrm>
          <a:prstGeom prst="rect">
            <a:avLst/>
          </a:prstGeom>
          <a:noFill/>
          <a:ln/>
        </p:spPr>
        <p:txBody>
          <a:bodyPr wrap="square" lIns="0" tIns="0" rIns="0" bIns="0" rtlCol="0" anchor="ctr"/>
          <a:lstStyle/>
          <a:p>
            <a:pPr indent="0" marL="0">
              <a:buNone/>
            </a:pPr>
            <a:r>
              <a:rPr lang="en-US" sz="1050" dirty="0">
                <a:solidFill>
                  <a:srgbClr val="E6EDF3"/>
                </a:solidFill>
                <a:latin typeface="Courier New" pitchFamily="34" charset="0"/>
                <a:ea typeface="Courier New" pitchFamily="34" charset="-122"/>
                <a:cs typeface="Courier New" pitchFamily="34" charset="-120"/>
              </a:rPr>
              <a:t>ALERT-2047</a:t>
            </a:r>
            <a:endParaRPr lang="en-US" sz="1050" dirty="0"/>
          </a:p>
        </p:txBody>
      </p:sp>
      <p:sp>
        <p:nvSpPr>
          <p:cNvPr id="17" name="Text 15"/>
          <p:cNvSpPr txBox="1"/>
          <p:nvPr/>
        </p:nvSpPr>
        <p:spPr>
          <a:xfrm>
            <a:off x="2606040" y="2907792"/>
            <a:ext cx="2651760" cy="329184"/>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Off-hours Login OK</a:t>
            </a:r>
            <a:endParaRPr lang="en-US" sz="1100" dirty="0"/>
          </a:p>
        </p:txBody>
      </p:sp>
      <p:sp>
        <p:nvSpPr>
          <p:cNvPr id="18" name="Shape 16"/>
          <p:cNvSpPr/>
          <p:nvPr/>
        </p:nvSpPr>
        <p:spPr>
          <a:xfrm>
            <a:off x="850392" y="3310128"/>
            <a:ext cx="4517136" cy="329184"/>
          </a:xfrm>
          <a:prstGeom prst="roundRect">
            <a:avLst>
              <a:gd name="adj" fmla="val 13889"/>
            </a:avLst>
          </a:prstGeom>
          <a:solidFill>
            <a:srgbClr val="1B2431"/>
          </a:solidFill>
          <a:ln/>
        </p:spPr>
      </p:sp>
      <p:sp>
        <p:nvSpPr>
          <p:cNvPr id="19" name="Shape 17"/>
          <p:cNvSpPr/>
          <p:nvPr/>
        </p:nvSpPr>
        <p:spPr>
          <a:xfrm>
            <a:off x="978408" y="3419856"/>
            <a:ext cx="109728" cy="109728"/>
          </a:xfrm>
          <a:prstGeom prst="ellipse">
            <a:avLst/>
          </a:prstGeom>
          <a:solidFill>
            <a:srgbClr val="E3B341"/>
          </a:solidFill>
          <a:ln/>
        </p:spPr>
      </p:sp>
      <p:sp>
        <p:nvSpPr>
          <p:cNvPr id="20" name="Text 18"/>
          <p:cNvSpPr txBox="1"/>
          <p:nvPr/>
        </p:nvSpPr>
        <p:spPr>
          <a:xfrm>
            <a:off x="1197864" y="3310128"/>
            <a:ext cx="1371600" cy="329184"/>
          </a:xfrm>
          <a:prstGeom prst="rect">
            <a:avLst/>
          </a:prstGeom>
          <a:noFill/>
          <a:ln/>
        </p:spPr>
        <p:txBody>
          <a:bodyPr wrap="square" lIns="0" tIns="0" rIns="0" bIns="0" rtlCol="0" anchor="ctr"/>
          <a:lstStyle/>
          <a:p>
            <a:pPr indent="0" marL="0">
              <a:buNone/>
            </a:pPr>
            <a:r>
              <a:rPr lang="en-US" sz="1050" dirty="0">
                <a:solidFill>
                  <a:srgbClr val="E6EDF3"/>
                </a:solidFill>
                <a:latin typeface="Courier New" pitchFamily="34" charset="0"/>
                <a:ea typeface="Courier New" pitchFamily="34" charset="-122"/>
                <a:cs typeface="Courier New" pitchFamily="34" charset="-120"/>
              </a:rPr>
              <a:t>ALERT-2051</a:t>
            </a:r>
            <a:endParaRPr lang="en-US" sz="1050" dirty="0"/>
          </a:p>
        </p:txBody>
      </p:sp>
      <p:sp>
        <p:nvSpPr>
          <p:cNvPr id="21" name="Text 19"/>
          <p:cNvSpPr txBox="1"/>
          <p:nvPr/>
        </p:nvSpPr>
        <p:spPr>
          <a:xfrm>
            <a:off x="2606040" y="3310128"/>
            <a:ext cx="2651760" cy="329184"/>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Privilege Escalation</a:t>
            </a:r>
            <a:endParaRPr lang="en-US" sz="1100" dirty="0"/>
          </a:p>
        </p:txBody>
      </p:sp>
      <p:sp>
        <p:nvSpPr>
          <p:cNvPr id="22" name="Shape 20"/>
          <p:cNvSpPr/>
          <p:nvPr/>
        </p:nvSpPr>
        <p:spPr>
          <a:xfrm>
            <a:off x="850392" y="3712464"/>
            <a:ext cx="4517136" cy="329184"/>
          </a:xfrm>
          <a:prstGeom prst="roundRect">
            <a:avLst>
              <a:gd name="adj" fmla="val 13889"/>
            </a:avLst>
          </a:prstGeom>
          <a:solidFill>
            <a:srgbClr val="1B2431"/>
          </a:solidFill>
          <a:ln/>
        </p:spPr>
      </p:sp>
      <p:sp>
        <p:nvSpPr>
          <p:cNvPr id="23" name="Shape 21"/>
          <p:cNvSpPr/>
          <p:nvPr/>
        </p:nvSpPr>
        <p:spPr>
          <a:xfrm>
            <a:off x="978408" y="3822192"/>
            <a:ext cx="109728" cy="109728"/>
          </a:xfrm>
          <a:prstGeom prst="ellipse">
            <a:avLst/>
          </a:prstGeom>
          <a:solidFill>
            <a:srgbClr val="F85149"/>
          </a:solidFill>
          <a:ln/>
        </p:spPr>
      </p:sp>
      <p:sp>
        <p:nvSpPr>
          <p:cNvPr id="24" name="Text 22"/>
          <p:cNvSpPr txBox="1"/>
          <p:nvPr/>
        </p:nvSpPr>
        <p:spPr>
          <a:xfrm>
            <a:off x="1197864" y="3712464"/>
            <a:ext cx="1371600" cy="329184"/>
          </a:xfrm>
          <a:prstGeom prst="rect">
            <a:avLst/>
          </a:prstGeom>
          <a:noFill/>
          <a:ln/>
        </p:spPr>
        <p:txBody>
          <a:bodyPr wrap="square" lIns="0" tIns="0" rIns="0" bIns="0" rtlCol="0" anchor="ctr"/>
          <a:lstStyle/>
          <a:p>
            <a:pPr indent="0" marL="0">
              <a:buNone/>
            </a:pPr>
            <a:r>
              <a:rPr lang="en-US" sz="1050" dirty="0">
                <a:solidFill>
                  <a:srgbClr val="E6EDF3"/>
                </a:solidFill>
                <a:latin typeface="Courier New" pitchFamily="34" charset="0"/>
                <a:ea typeface="Courier New" pitchFamily="34" charset="-122"/>
                <a:cs typeface="Courier New" pitchFamily="34" charset="-120"/>
              </a:rPr>
              <a:t>ALERT-2054</a:t>
            </a:r>
            <a:endParaRPr lang="en-US" sz="1050" dirty="0"/>
          </a:p>
        </p:txBody>
      </p:sp>
      <p:sp>
        <p:nvSpPr>
          <p:cNvPr id="25" name="Text 23"/>
          <p:cNvSpPr txBox="1"/>
          <p:nvPr/>
        </p:nvSpPr>
        <p:spPr>
          <a:xfrm>
            <a:off x="2606040" y="3712464"/>
            <a:ext cx="2651760" cy="329184"/>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Lateral SMB Connect</a:t>
            </a:r>
            <a:endParaRPr lang="en-US" sz="1100" dirty="0"/>
          </a:p>
        </p:txBody>
      </p:sp>
      <p:sp>
        <p:nvSpPr>
          <p:cNvPr id="26" name="Text 24"/>
          <p:cNvSpPr txBox="1"/>
          <p:nvPr/>
        </p:nvSpPr>
        <p:spPr>
          <a:xfrm>
            <a:off x="850392" y="4224528"/>
            <a:ext cx="4517136" cy="365760"/>
          </a:xfrm>
          <a:prstGeom prst="rect">
            <a:avLst/>
          </a:prstGeom>
          <a:noFill/>
          <a:ln/>
        </p:spPr>
        <p:txBody>
          <a:bodyPr wrap="square" lIns="0" tIns="0" rIns="0" bIns="0" rtlCol="0" anchor="ctr"/>
          <a:lstStyle/>
          <a:p>
            <a:pPr indent="0" marL="0">
              <a:buNone/>
            </a:pPr>
            <a:r>
              <a:rPr lang="en-US" sz="1050" i="1" dirty="0">
                <a:solidFill>
                  <a:srgbClr val="6E7B8B"/>
                </a:solidFill>
                <a:latin typeface="Calibri" pitchFamily="34" charset="0"/>
                <a:ea typeface="Calibri" pitchFamily="34" charset="-122"/>
                <a:cs typeface="Calibri" pitchFamily="34" charset="-120"/>
              </a:rPr>
              <a:t>No shared context. Five queue items, possibly five different analysts.</a:t>
            </a:r>
            <a:endParaRPr lang="en-US" sz="1050" dirty="0"/>
          </a:p>
        </p:txBody>
      </p:sp>
      <p:sp>
        <p:nvSpPr>
          <p:cNvPr id="27" name="Shape 25"/>
          <p:cNvSpPr/>
          <p:nvPr/>
        </p:nvSpPr>
        <p:spPr>
          <a:xfrm>
            <a:off x="5760720" y="2999232"/>
            <a:ext cx="411480" cy="384048"/>
          </a:xfrm>
          <a:prstGeom prst="rightArrow">
            <a:avLst/>
          </a:prstGeom>
          <a:solidFill>
            <a:srgbClr val="58A6FF"/>
          </a:solidFill>
          <a:ln/>
        </p:spPr>
      </p:sp>
      <p:sp>
        <p:nvSpPr>
          <p:cNvPr id="28" name="Shape 26"/>
          <p:cNvSpPr/>
          <p:nvPr/>
        </p:nvSpPr>
        <p:spPr>
          <a:xfrm>
            <a:off x="6355080" y="1572768"/>
            <a:ext cx="5239512" cy="3200400"/>
          </a:xfrm>
          <a:prstGeom prst="roundRect">
            <a:avLst>
              <a:gd name="adj" fmla="val 1714"/>
            </a:avLst>
          </a:prstGeom>
          <a:solidFill>
            <a:srgbClr val="1B2431"/>
          </a:solidFill>
          <a:ln w="12700">
            <a:solidFill>
              <a:srgbClr val="2B3644"/>
            </a:solidFill>
            <a:prstDash val="solid"/>
          </a:ln>
        </p:spPr>
      </p:sp>
      <p:sp>
        <p:nvSpPr>
          <p:cNvPr id="29" name="Text 27"/>
          <p:cNvSpPr txBox="1"/>
          <p:nvPr/>
        </p:nvSpPr>
        <p:spPr>
          <a:xfrm>
            <a:off x="6611112" y="1737360"/>
            <a:ext cx="3657600" cy="237744"/>
          </a:xfrm>
          <a:prstGeom prst="rect">
            <a:avLst/>
          </a:prstGeom>
          <a:noFill/>
          <a:ln/>
        </p:spPr>
        <p:txBody>
          <a:bodyPr wrap="square" lIns="0" tIns="0" rIns="0" bIns="0" rtlCol="0" anchor="ctr"/>
          <a:lstStyle/>
          <a:p>
            <a:pPr indent="0" marL="0">
              <a:buNone/>
            </a:pPr>
            <a:r>
              <a:rPr lang="en-US" sz="950" b="1" spc="90" kern="0" dirty="0">
                <a:solidFill>
                  <a:srgbClr val="58A6FF"/>
                </a:solidFill>
                <a:latin typeface="Arial" pitchFamily="34" charset="0"/>
                <a:ea typeface="Arial" pitchFamily="34" charset="-122"/>
                <a:cs typeface="Arial" pitchFamily="34" charset="-120"/>
              </a:rPr>
              <a:t>AFTER  ·  ONE CORRELATED INCIDENT</a:t>
            </a:r>
            <a:endParaRPr lang="en-US" sz="950" dirty="0"/>
          </a:p>
        </p:txBody>
      </p:sp>
      <p:sp>
        <p:nvSpPr>
          <p:cNvPr id="30" name="Text 28"/>
          <p:cNvSpPr txBox="1"/>
          <p:nvPr/>
        </p:nvSpPr>
        <p:spPr>
          <a:xfrm>
            <a:off x="6611112" y="2029968"/>
            <a:ext cx="2194560" cy="438912"/>
          </a:xfrm>
          <a:prstGeom prst="rect">
            <a:avLst/>
          </a:prstGeom>
          <a:noFill/>
          <a:ln/>
        </p:spPr>
        <p:txBody>
          <a:bodyPr wrap="square" lIns="0" tIns="0" rIns="0" bIns="0" rtlCol="0" anchor="ctr"/>
          <a:lstStyle/>
          <a:p>
            <a:pPr indent="0" marL="0">
              <a:buNone/>
            </a:pPr>
            <a:r>
              <a:rPr lang="en-US" sz="2400" b="1" dirty="0">
                <a:solidFill>
                  <a:srgbClr val="E6EDF3"/>
                </a:solidFill>
                <a:latin typeface="Arial" pitchFamily="34" charset="0"/>
                <a:ea typeface="Arial" pitchFamily="34" charset="-122"/>
                <a:cs typeface="Arial" pitchFamily="34" charset="-120"/>
              </a:rPr>
              <a:t>INC-0007</a:t>
            </a:r>
            <a:endParaRPr lang="en-US" sz="2400" dirty="0"/>
          </a:p>
        </p:txBody>
      </p:sp>
      <p:sp>
        <p:nvSpPr>
          <p:cNvPr id="31" name="Shape 29"/>
          <p:cNvSpPr/>
          <p:nvPr/>
        </p:nvSpPr>
        <p:spPr>
          <a:xfrm>
            <a:off x="8869680" y="2084832"/>
            <a:ext cx="777240" cy="347472"/>
          </a:xfrm>
          <a:prstGeom prst="roundRect">
            <a:avLst>
              <a:gd name="adj" fmla="val 26316"/>
            </a:avLst>
          </a:prstGeom>
          <a:solidFill>
            <a:srgbClr val="2A1418"/>
          </a:solidFill>
          <a:ln w="12700">
            <a:solidFill>
              <a:srgbClr val="F85149"/>
            </a:solidFill>
            <a:prstDash val="solid"/>
          </a:ln>
        </p:spPr>
      </p:sp>
      <p:sp>
        <p:nvSpPr>
          <p:cNvPr id="32" name="Text 30"/>
          <p:cNvSpPr txBox="1"/>
          <p:nvPr/>
        </p:nvSpPr>
        <p:spPr>
          <a:xfrm>
            <a:off x="8869680" y="2084832"/>
            <a:ext cx="777240" cy="347472"/>
          </a:xfrm>
          <a:prstGeom prst="rect">
            <a:avLst/>
          </a:prstGeom>
          <a:noFill/>
          <a:ln/>
        </p:spPr>
        <p:txBody>
          <a:bodyPr wrap="square" lIns="0" tIns="0" rIns="0" bIns="0" rtlCol="0" anchor="ctr"/>
          <a:lstStyle/>
          <a:p>
            <a:pPr algn="ctr" indent="0" marL="0">
              <a:buNone/>
            </a:pPr>
            <a:r>
              <a:rPr lang="en-US" sz="950" b="1" spc="60" kern="0" dirty="0">
                <a:solidFill>
                  <a:srgbClr val="F85149"/>
                </a:solidFill>
                <a:latin typeface="Arial" pitchFamily="34" charset="0"/>
                <a:ea typeface="Arial" pitchFamily="34" charset="-122"/>
                <a:cs typeface="Arial" pitchFamily="34" charset="-120"/>
              </a:rPr>
              <a:t>P1</a:t>
            </a:r>
            <a:endParaRPr lang="en-US" sz="950" dirty="0"/>
          </a:p>
        </p:txBody>
      </p:sp>
      <p:sp>
        <p:nvSpPr>
          <p:cNvPr id="33" name="Shape 31"/>
          <p:cNvSpPr/>
          <p:nvPr/>
        </p:nvSpPr>
        <p:spPr>
          <a:xfrm>
            <a:off x="9765792" y="2084832"/>
            <a:ext cx="1572768" cy="347472"/>
          </a:xfrm>
          <a:prstGeom prst="roundRect">
            <a:avLst>
              <a:gd name="adj" fmla="val 26316"/>
            </a:avLst>
          </a:prstGeom>
          <a:solidFill>
            <a:srgbClr val="10243A"/>
          </a:solidFill>
          <a:ln w="12700">
            <a:solidFill>
              <a:srgbClr val="58A6FF"/>
            </a:solidFill>
            <a:prstDash val="solid"/>
          </a:ln>
        </p:spPr>
      </p:sp>
      <p:sp>
        <p:nvSpPr>
          <p:cNvPr id="34" name="Text 32"/>
          <p:cNvSpPr txBox="1"/>
          <p:nvPr/>
        </p:nvSpPr>
        <p:spPr>
          <a:xfrm>
            <a:off x="9765792" y="2084832"/>
            <a:ext cx="1572768" cy="347472"/>
          </a:xfrm>
          <a:prstGeom prst="rect">
            <a:avLst/>
          </a:prstGeom>
          <a:noFill/>
          <a:ln/>
        </p:spPr>
        <p:txBody>
          <a:bodyPr wrap="square" lIns="0" tIns="0" rIns="0" bIns="0" rtlCol="0" anchor="ctr"/>
          <a:lstStyle/>
          <a:p>
            <a:pPr algn="ctr" indent="0" marL="0">
              <a:buNone/>
            </a:pPr>
            <a:r>
              <a:rPr lang="en-US" sz="950" b="1" spc="60" kern="0" dirty="0">
                <a:solidFill>
                  <a:srgbClr val="58A6FF"/>
                </a:solidFill>
                <a:latin typeface="Arial" pitchFamily="34" charset="0"/>
                <a:ea typeface="Arial" pitchFamily="34" charset="-122"/>
                <a:cs typeface="Arial" pitchFamily="34" charset="-120"/>
              </a:rPr>
              <a:t>5 ALERTS</a:t>
            </a:r>
            <a:endParaRPr lang="en-US" sz="950" dirty="0"/>
          </a:p>
        </p:txBody>
      </p:sp>
      <p:sp>
        <p:nvSpPr>
          <p:cNvPr id="35" name="Text 33"/>
          <p:cNvSpPr txBox="1"/>
          <p:nvPr/>
        </p:nvSpPr>
        <p:spPr>
          <a:xfrm>
            <a:off x="6611112" y="2615184"/>
            <a:ext cx="1463040" cy="27432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Shared indicator</a:t>
            </a:r>
            <a:endParaRPr lang="en-US" sz="1050" dirty="0"/>
          </a:p>
        </p:txBody>
      </p:sp>
      <p:sp>
        <p:nvSpPr>
          <p:cNvPr id="36" name="Text 34"/>
          <p:cNvSpPr txBox="1"/>
          <p:nvPr/>
        </p:nvSpPr>
        <p:spPr>
          <a:xfrm>
            <a:off x="8092440" y="2615184"/>
            <a:ext cx="3291840" cy="274320"/>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203.0.113.45 → INFRA-SRV-01</a:t>
            </a:r>
            <a:endParaRPr lang="en-US" sz="1050" dirty="0"/>
          </a:p>
        </p:txBody>
      </p:sp>
      <p:sp>
        <p:nvSpPr>
          <p:cNvPr id="37" name="Text 35"/>
          <p:cNvSpPr txBox="1"/>
          <p:nvPr/>
        </p:nvSpPr>
        <p:spPr>
          <a:xfrm>
            <a:off x="6611112" y="2944368"/>
            <a:ext cx="1463040" cy="27432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Time span</a:t>
            </a:r>
            <a:endParaRPr lang="en-US" sz="1050" dirty="0"/>
          </a:p>
        </p:txBody>
      </p:sp>
      <p:sp>
        <p:nvSpPr>
          <p:cNvPr id="38" name="Text 36"/>
          <p:cNvSpPr txBox="1"/>
          <p:nvPr/>
        </p:nvSpPr>
        <p:spPr>
          <a:xfrm>
            <a:off x="8092440" y="2944368"/>
            <a:ext cx="3291840" cy="274320"/>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47 minutes (inside the 60-min window)</a:t>
            </a:r>
            <a:endParaRPr lang="en-US" sz="1050" dirty="0"/>
          </a:p>
        </p:txBody>
      </p:sp>
      <p:sp>
        <p:nvSpPr>
          <p:cNvPr id="39" name="Text 37"/>
          <p:cNvSpPr txBox="1"/>
          <p:nvPr/>
        </p:nvSpPr>
        <p:spPr>
          <a:xfrm>
            <a:off x="6611112" y="3273552"/>
            <a:ext cx="1463040" cy="27432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Status</a:t>
            </a:r>
            <a:endParaRPr lang="en-US" sz="1050" dirty="0"/>
          </a:p>
        </p:txBody>
      </p:sp>
      <p:sp>
        <p:nvSpPr>
          <p:cNvPr id="40" name="Text 38"/>
          <p:cNvSpPr txBox="1"/>
          <p:nvPr/>
        </p:nvSpPr>
        <p:spPr>
          <a:xfrm>
            <a:off x="8092440" y="3273552"/>
            <a:ext cx="3291840" cy="274320"/>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Active — awaiting analyst confirmation</a:t>
            </a:r>
            <a:endParaRPr lang="en-US" sz="1050" dirty="0"/>
          </a:p>
        </p:txBody>
      </p:sp>
      <p:sp>
        <p:nvSpPr>
          <p:cNvPr id="41" name="Text 39"/>
          <p:cNvSpPr txBox="1"/>
          <p:nvPr/>
        </p:nvSpPr>
        <p:spPr>
          <a:xfrm>
            <a:off x="6611112" y="3675888"/>
            <a:ext cx="3657600" cy="219456"/>
          </a:xfrm>
          <a:prstGeom prst="rect">
            <a:avLst/>
          </a:prstGeom>
          <a:noFill/>
          <a:ln/>
        </p:spPr>
        <p:txBody>
          <a:bodyPr wrap="square" lIns="0" tIns="0" rIns="0" bIns="0" rtlCol="0" anchor="ctr"/>
          <a:lstStyle/>
          <a:p>
            <a:pPr indent="0" marL="0">
              <a:buNone/>
            </a:pPr>
            <a:r>
              <a:rPr lang="en-US" sz="900" b="1" spc="90" kern="0" dirty="0">
                <a:solidFill>
                  <a:srgbClr val="8B949E"/>
                </a:solidFill>
                <a:latin typeface="Arial" pitchFamily="34" charset="0"/>
                <a:ea typeface="Arial" pitchFamily="34" charset="-122"/>
                <a:cs typeface="Arial" pitchFamily="34" charset="-120"/>
              </a:rPr>
              <a:t>RECONSTRUCTED SEQUENCE</a:t>
            </a:r>
            <a:endParaRPr lang="en-US" sz="900" dirty="0"/>
          </a:p>
        </p:txBody>
      </p:sp>
      <p:sp>
        <p:nvSpPr>
          <p:cNvPr id="42" name="Shape 40"/>
          <p:cNvSpPr/>
          <p:nvPr/>
        </p:nvSpPr>
        <p:spPr>
          <a:xfrm>
            <a:off x="6611112" y="3968496"/>
            <a:ext cx="1078992" cy="457200"/>
          </a:xfrm>
          <a:prstGeom prst="roundRect">
            <a:avLst>
              <a:gd name="adj" fmla="val 12000"/>
            </a:avLst>
          </a:prstGeom>
          <a:solidFill>
            <a:srgbClr val="15202C"/>
          </a:solidFill>
          <a:ln w="12700">
            <a:solidFill>
              <a:srgbClr val="35485C"/>
            </a:solidFill>
            <a:prstDash val="solid"/>
          </a:ln>
        </p:spPr>
      </p:sp>
      <p:sp>
        <p:nvSpPr>
          <p:cNvPr id="43" name="Text 41"/>
          <p:cNvSpPr txBox="1"/>
          <p:nvPr/>
        </p:nvSpPr>
        <p:spPr>
          <a:xfrm>
            <a:off x="6647688" y="3968496"/>
            <a:ext cx="1005840" cy="457200"/>
          </a:xfrm>
          <a:prstGeom prst="rect">
            <a:avLst/>
          </a:prstGeom>
          <a:noFill/>
          <a:ln/>
        </p:spPr>
        <p:txBody>
          <a:bodyPr wrap="square" lIns="0" tIns="0" rIns="0" bIns="0" rtlCol="0" anchor="ctr"/>
          <a:lstStyle/>
          <a:p>
            <a:pPr algn="ctr" indent="0" marL="0">
              <a:buNone/>
            </a:pPr>
            <a:r>
              <a:rPr lang="en-US" sz="900" dirty="0">
                <a:solidFill>
                  <a:srgbClr val="E6EDF3"/>
                </a:solidFill>
                <a:latin typeface="Calibri" pitchFamily="34" charset="0"/>
                <a:ea typeface="Calibri" pitchFamily="34" charset="-122"/>
                <a:cs typeface="Calibri" pitchFamily="34" charset="-120"/>
              </a:rPr>
              <a:t>Initial Access</a:t>
            </a:r>
            <a:endParaRPr lang="en-US" sz="900" dirty="0"/>
          </a:p>
        </p:txBody>
      </p:sp>
      <p:sp>
        <p:nvSpPr>
          <p:cNvPr id="44" name="Shape 42"/>
          <p:cNvSpPr/>
          <p:nvPr/>
        </p:nvSpPr>
        <p:spPr>
          <a:xfrm>
            <a:off x="7708392" y="4133088"/>
            <a:ext cx="91440" cy="128016"/>
          </a:xfrm>
          <a:prstGeom prst="rightArrow">
            <a:avLst/>
          </a:prstGeom>
          <a:solidFill>
            <a:srgbClr val="4A5B6C"/>
          </a:solidFill>
          <a:ln/>
        </p:spPr>
      </p:sp>
      <p:sp>
        <p:nvSpPr>
          <p:cNvPr id="45" name="Shape 43"/>
          <p:cNvSpPr/>
          <p:nvPr/>
        </p:nvSpPr>
        <p:spPr>
          <a:xfrm>
            <a:off x="7818120" y="3968496"/>
            <a:ext cx="1078992" cy="457200"/>
          </a:xfrm>
          <a:prstGeom prst="roundRect">
            <a:avLst>
              <a:gd name="adj" fmla="val 12000"/>
            </a:avLst>
          </a:prstGeom>
          <a:solidFill>
            <a:srgbClr val="15202C"/>
          </a:solidFill>
          <a:ln w="12700">
            <a:solidFill>
              <a:srgbClr val="35485C"/>
            </a:solidFill>
            <a:prstDash val="solid"/>
          </a:ln>
        </p:spPr>
      </p:sp>
      <p:sp>
        <p:nvSpPr>
          <p:cNvPr id="46" name="Text 44"/>
          <p:cNvSpPr txBox="1"/>
          <p:nvPr/>
        </p:nvSpPr>
        <p:spPr>
          <a:xfrm>
            <a:off x="7854696" y="3968496"/>
            <a:ext cx="1005840" cy="457200"/>
          </a:xfrm>
          <a:prstGeom prst="rect">
            <a:avLst/>
          </a:prstGeom>
          <a:noFill/>
          <a:ln/>
        </p:spPr>
        <p:txBody>
          <a:bodyPr wrap="square" lIns="0" tIns="0" rIns="0" bIns="0" rtlCol="0" anchor="ctr"/>
          <a:lstStyle/>
          <a:p>
            <a:pPr algn="ctr" indent="0" marL="0">
              <a:buNone/>
            </a:pPr>
            <a:r>
              <a:rPr lang="en-US" sz="900" dirty="0">
                <a:solidFill>
                  <a:srgbClr val="E6EDF3"/>
                </a:solidFill>
                <a:latin typeface="Calibri" pitchFamily="34" charset="0"/>
                <a:ea typeface="Calibri" pitchFamily="34" charset="-122"/>
                <a:cs typeface="Calibri" pitchFamily="34" charset="-120"/>
              </a:rPr>
              <a:t>Credential Access</a:t>
            </a:r>
            <a:endParaRPr lang="en-US" sz="900" dirty="0"/>
          </a:p>
        </p:txBody>
      </p:sp>
      <p:sp>
        <p:nvSpPr>
          <p:cNvPr id="47" name="Shape 45"/>
          <p:cNvSpPr/>
          <p:nvPr/>
        </p:nvSpPr>
        <p:spPr>
          <a:xfrm>
            <a:off x="8915400" y="4133088"/>
            <a:ext cx="91440" cy="128016"/>
          </a:xfrm>
          <a:prstGeom prst="rightArrow">
            <a:avLst/>
          </a:prstGeom>
          <a:solidFill>
            <a:srgbClr val="4A5B6C"/>
          </a:solidFill>
          <a:ln/>
        </p:spPr>
      </p:sp>
      <p:sp>
        <p:nvSpPr>
          <p:cNvPr id="48" name="Shape 46"/>
          <p:cNvSpPr/>
          <p:nvPr/>
        </p:nvSpPr>
        <p:spPr>
          <a:xfrm>
            <a:off x="9025128" y="3968496"/>
            <a:ext cx="1078992" cy="457200"/>
          </a:xfrm>
          <a:prstGeom prst="roundRect">
            <a:avLst>
              <a:gd name="adj" fmla="val 12000"/>
            </a:avLst>
          </a:prstGeom>
          <a:solidFill>
            <a:srgbClr val="15202C"/>
          </a:solidFill>
          <a:ln w="12700">
            <a:solidFill>
              <a:srgbClr val="35485C"/>
            </a:solidFill>
            <a:prstDash val="solid"/>
          </a:ln>
        </p:spPr>
      </p:sp>
      <p:sp>
        <p:nvSpPr>
          <p:cNvPr id="49" name="Text 47"/>
          <p:cNvSpPr txBox="1"/>
          <p:nvPr/>
        </p:nvSpPr>
        <p:spPr>
          <a:xfrm>
            <a:off x="9061704" y="3968496"/>
            <a:ext cx="1005840" cy="457200"/>
          </a:xfrm>
          <a:prstGeom prst="rect">
            <a:avLst/>
          </a:prstGeom>
          <a:noFill/>
          <a:ln/>
        </p:spPr>
        <p:txBody>
          <a:bodyPr wrap="square" lIns="0" tIns="0" rIns="0" bIns="0" rtlCol="0" anchor="ctr"/>
          <a:lstStyle/>
          <a:p>
            <a:pPr algn="ctr" indent="0" marL="0">
              <a:buNone/>
            </a:pPr>
            <a:r>
              <a:rPr lang="en-US" sz="900" dirty="0">
                <a:solidFill>
                  <a:srgbClr val="E6EDF3"/>
                </a:solidFill>
                <a:latin typeface="Calibri" pitchFamily="34" charset="0"/>
                <a:ea typeface="Calibri" pitchFamily="34" charset="-122"/>
                <a:cs typeface="Calibri" pitchFamily="34" charset="-120"/>
              </a:rPr>
              <a:t>Priv. Escalation</a:t>
            </a:r>
            <a:endParaRPr lang="en-US" sz="900" dirty="0"/>
          </a:p>
        </p:txBody>
      </p:sp>
      <p:sp>
        <p:nvSpPr>
          <p:cNvPr id="50" name="Shape 48"/>
          <p:cNvSpPr/>
          <p:nvPr/>
        </p:nvSpPr>
        <p:spPr>
          <a:xfrm>
            <a:off x="10122408" y="4133088"/>
            <a:ext cx="91440" cy="128016"/>
          </a:xfrm>
          <a:prstGeom prst="rightArrow">
            <a:avLst/>
          </a:prstGeom>
          <a:solidFill>
            <a:srgbClr val="4A5B6C"/>
          </a:solidFill>
          <a:ln/>
        </p:spPr>
      </p:sp>
      <p:sp>
        <p:nvSpPr>
          <p:cNvPr id="51" name="Shape 49"/>
          <p:cNvSpPr/>
          <p:nvPr/>
        </p:nvSpPr>
        <p:spPr>
          <a:xfrm>
            <a:off x="10232136" y="3968496"/>
            <a:ext cx="1078992" cy="457200"/>
          </a:xfrm>
          <a:prstGeom prst="roundRect">
            <a:avLst>
              <a:gd name="adj" fmla="val 12000"/>
            </a:avLst>
          </a:prstGeom>
          <a:solidFill>
            <a:srgbClr val="15202C"/>
          </a:solidFill>
          <a:ln w="12700">
            <a:solidFill>
              <a:srgbClr val="35485C"/>
            </a:solidFill>
            <a:prstDash val="solid"/>
          </a:ln>
        </p:spPr>
      </p:sp>
      <p:sp>
        <p:nvSpPr>
          <p:cNvPr id="52" name="Text 50"/>
          <p:cNvSpPr txBox="1"/>
          <p:nvPr/>
        </p:nvSpPr>
        <p:spPr>
          <a:xfrm>
            <a:off x="10268712" y="3968496"/>
            <a:ext cx="1005840" cy="457200"/>
          </a:xfrm>
          <a:prstGeom prst="rect">
            <a:avLst/>
          </a:prstGeom>
          <a:noFill/>
          <a:ln/>
        </p:spPr>
        <p:txBody>
          <a:bodyPr wrap="square" lIns="0" tIns="0" rIns="0" bIns="0" rtlCol="0" anchor="ctr"/>
          <a:lstStyle/>
          <a:p>
            <a:pPr algn="ctr" indent="0" marL="0">
              <a:buNone/>
            </a:pPr>
            <a:r>
              <a:rPr lang="en-US" sz="900" dirty="0">
                <a:solidFill>
                  <a:srgbClr val="E6EDF3"/>
                </a:solidFill>
                <a:latin typeface="Calibri" pitchFamily="34" charset="0"/>
                <a:ea typeface="Calibri" pitchFamily="34" charset="-122"/>
                <a:cs typeface="Calibri" pitchFamily="34" charset="-120"/>
              </a:rPr>
              <a:t>Lateral Movement</a:t>
            </a:r>
            <a:endParaRPr lang="en-US" sz="900" dirty="0"/>
          </a:p>
        </p:txBody>
      </p:sp>
      <p:sp>
        <p:nvSpPr>
          <p:cNvPr id="53" name="Shape 51"/>
          <p:cNvSpPr/>
          <p:nvPr/>
        </p:nvSpPr>
        <p:spPr>
          <a:xfrm>
            <a:off x="594360" y="4956048"/>
            <a:ext cx="5029200" cy="1298448"/>
          </a:xfrm>
          <a:prstGeom prst="roundRect">
            <a:avLst>
              <a:gd name="adj" fmla="val 4225"/>
            </a:avLst>
          </a:prstGeom>
          <a:solidFill>
            <a:srgbClr val="141B26"/>
          </a:solidFill>
          <a:ln w="12700">
            <a:solidFill>
              <a:srgbClr val="2B3644"/>
            </a:solidFill>
            <a:prstDash val="solid"/>
          </a:ln>
        </p:spPr>
      </p:sp>
      <p:sp>
        <p:nvSpPr>
          <p:cNvPr id="54" name="Text 52"/>
          <p:cNvSpPr txBox="1"/>
          <p:nvPr/>
        </p:nvSpPr>
        <p:spPr>
          <a:xfrm>
            <a:off x="850392" y="5102352"/>
            <a:ext cx="4480560" cy="219456"/>
          </a:xfrm>
          <a:prstGeom prst="rect">
            <a:avLst/>
          </a:prstGeom>
          <a:noFill/>
          <a:ln/>
        </p:spPr>
        <p:txBody>
          <a:bodyPr wrap="square" lIns="0" tIns="0" rIns="0" bIns="0" rtlCol="0" anchor="ctr"/>
          <a:lstStyle/>
          <a:p>
            <a:pPr indent="0" marL="0">
              <a:buNone/>
            </a:pPr>
            <a:r>
              <a:rPr lang="en-US" sz="900" b="1" spc="100" kern="0" dirty="0">
                <a:solidFill>
                  <a:srgbClr val="58A6FF"/>
                </a:solidFill>
                <a:latin typeface="Arial" pitchFamily="34" charset="0"/>
                <a:ea typeface="Arial" pitchFamily="34" charset="-122"/>
                <a:cs typeface="Arial" pitchFamily="34" charset="-120"/>
              </a:rPr>
              <a:t>CORRELATION RULE  (SETTINGS)</a:t>
            </a:r>
            <a:endParaRPr lang="en-US" sz="900" dirty="0"/>
          </a:p>
        </p:txBody>
      </p:sp>
      <p:sp>
        <p:nvSpPr>
          <p:cNvPr id="55" name="Text 53"/>
          <p:cNvSpPr txBox="1"/>
          <p:nvPr/>
        </p:nvSpPr>
        <p:spPr>
          <a:xfrm>
            <a:off x="850392" y="5358384"/>
            <a:ext cx="4517136" cy="749808"/>
          </a:xfrm>
          <a:prstGeom prst="rect">
            <a:avLst/>
          </a:prstGeom>
          <a:noFill/>
          <a:ln/>
        </p:spPr>
        <p:txBody>
          <a:bodyPr wrap="square" lIns="0" tIns="0" rIns="0" bIns="0" rtlCol="0" anchor="ctr"/>
          <a:lstStyle/>
          <a:p>
            <a:pPr indent="0" marL="0">
              <a:lnSpc>
                <a:spcPct val="115000"/>
              </a:lnSpc>
              <a:buNone/>
            </a:pPr>
            <a:r>
              <a:rPr lang="en-US" sz="1050" dirty="0">
                <a:solidFill>
                  <a:srgbClr val="8B949E"/>
                </a:solidFill>
                <a:latin typeface="Calibri" pitchFamily="34" charset="0"/>
                <a:ea typeface="Calibri" pitchFamily="34" charset="-122"/>
                <a:cs typeface="Calibri" pitchFamily="34" charset="-120"/>
              </a:rPr>
              <a:t>Time window 60 min (1–1440)  ·  Minimum shared indicators 1 (1–5).</a:t>
            </a:r>
            <a:endParaRPr lang="en-US" sz="1050" dirty="0"/>
          </a:p>
          <a:p>
            <a:pPr indent="0" marL="0">
              <a:lnSpc>
                <a:spcPct val="115000"/>
              </a:lnSpc>
              <a:buNone/>
            </a:pPr>
            <a:r>
              <a:rPr lang="en-US" sz="1050" dirty="0">
                <a:solidFill>
                  <a:srgbClr val="8B949E"/>
                </a:solidFill>
                <a:latin typeface="Calibri" pitchFamily="34" charset="0"/>
                <a:ea typeface="Calibri" pitchFamily="34" charset="-122"/>
                <a:cs typeface="Calibri" pitchFamily="34" charset="-120"/>
              </a:rPr>
              <a:t>Matched on: source IP, destination IP, domain, file hash and asset name.</a:t>
            </a:r>
            <a:endParaRPr lang="en-US" sz="1050" dirty="0"/>
          </a:p>
        </p:txBody>
      </p:sp>
      <p:sp>
        <p:nvSpPr>
          <p:cNvPr id="56" name="Shape 54"/>
          <p:cNvSpPr/>
          <p:nvPr/>
        </p:nvSpPr>
        <p:spPr>
          <a:xfrm>
            <a:off x="6355080" y="4956048"/>
            <a:ext cx="5239512" cy="1298448"/>
          </a:xfrm>
          <a:prstGeom prst="roundRect">
            <a:avLst>
              <a:gd name="adj" fmla="val 4225"/>
            </a:avLst>
          </a:prstGeom>
          <a:solidFill>
            <a:srgbClr val="141B26"/>
          </a:solidFill>
          <a:ln w="12700">
            <a:solidFill>
              <a:srgbClr val="2B3644"/>
            </a:solidFill>
            <a:prstDash val="solid"/>
          </a:ln>
        </p:spPr>
      </p:sp>
      <p:sp>
        <p:nvSpPr>
          <p:cNvPr id="57" name="Text 55"/>
          <p:cNvSpPr txBox="1"/>
          <p:nvPr/>
        </p:nvSpPr>
        <p:spPr>
          <a:xfrm>
            <a:off x="6611112" y="5102352"/>
            <a:ext cx="4480560" cy="219456"/>
          </a:xfrm>
          <a:prstGeom prst="rect">
            <a:avLst/>
          </a:prstGeom>
          <a:noFill/>
          <a:ln/>
        </p:spPr>
        <p:txBody>
          <a:bodyPr wrap="square" lIns="0" tIns="0" rIns="0" bIns="0" rtlCol="0" anchor="ctr"/>
          <a:lstStyle/>
          <a:p>
            <a:pPr indent="0" marL="0">
              <a:buNone/>
            </a:pPr>
            <a:r>
              <a:rPr lang="en-US" sz="900" b="1" spc="100" kern="0" dirty="0">
                <a:solidFill>
                  <a:srgbClr val="3FB950"/>
                </a:solidFill>
                <a:latin typeface="Arial" pitchFamily="34" charset="0"/>
                <a:ea typeface="Arial" pitchFamily="34" charset="-122"/>
                <a:cs typeface="Arial" pitchFamily="34" charset="-120"/>
              </a:rPr>
              <a:t>FALSE-POSITIVE PASS</a:t>
            </a:r>
            <a:endParaRPr lang="en-US" sz="900" dirty="0"/>
          </a:p>
        </p:txBody>
      </p:sp>
      <p:sp>
        <p:nvSpPr>
          <p:cNvPr id="58" name="Text 56"/>
          <p:cNvSpPr txBox="1"/>
          <p:nvPr/>
        </p:nvSpPr>
        <p:spPr>
          <a:xfrm>
            <a:off x="6611112" y="5358384"/>
            <a:ext cx="4727448" cy="749808"/>
          </a:xfrm>
          <a:prstGeom prst="rect">
            <a:avLst/>
          </a:prstGeom>
          <a:noFill/>
          <a:ln/>
        </p:spPr>
        <p:txBody>
          <a:bodyPr wrap="square" lIns="0" tIns="0" rIns="0" bIns="0" rtlCol="0" anchor="ctr"/>
          <a:lstStyle/>
          <a:p>
            <a:pPr indent="0" marL="0">
              <a:lnSpc>
                <a:spcPct val="115000"/>
              </a:lnSpc>
              <a:buNone/>
            </a:pPr>
            <a:r>
              <a:rPr lang="en-US" sz="1050" dirty="0">
                <a:solidFill>
                  <a:srgbClr val="8B949E"/>
                </a:solidFill>
                <a:latin typeface="Calibri" pitchFamily="34" charset="0"/>
                <a:ea typeface="Calibri" pitchFamily="34" charset="-122"/>
                <a:cs typeface="Calibri" pitchFamily="34" charset="-120"/>
              </a:rPr>
              <a:t>The same batch is sorted into Likely Benign, Suspicious and Likely Malicious, so the queue opens with what is probably real — a preliminary sort only. No classification is final without analyst sign-off.</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19"/>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50292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Live Demo</a:t>
            </a:r>
            <a:endParaRPr lang="en-US" sz="3200" dirty="0"/>
          </a:p>
        </p:txBody>
      </p:sp>
      <p:sp>
        <p:nvSpPr>
          <p:cNvPr id="3" name="Text 1"/>
          <p:cNvSpPr txBox="1"/>
          <p:nvPr/>
        </p:nvSpPr>
        <p:spPr>
          <a:xfrm>
            <a:off x="594360" y="932688"/>
            <a:ext cx="11002975" cy="292608"/>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Five minutes, five clicks — running from the browser, no setup.</a:t>
            </a:r>
            <a:endParaRPr lang="en-US" sz="1350" dirty="0"/>
          </a:p>
        </p:txBody>
      </p:sp>
      <p:sp>
        <p:nvSpPr>
          <p:cNvPr id="4" name="Shape 2"/>
          <p:cNvSpPr/>
          <p:nvPr/>
        </p:nvSpPr>
        <p:spPr>
          <a:xfrm>
            <a:off x="594360" y="1682496"/>
            <a:ext cx="365760" cy="365760"/>
          </a:xfrm>
          <a:prstGeom prst="ellipse">
            <a:avLst/>
          </a:prstGeom>
          <a:solidFill>
            <a:srgbClr val="1B2431"/>
          </a:solidFill>
          <a:ln w="12700">
            <a:solidFill>
              <a:srgbClr val="58A6FF"/>
            </a:solidFill>
            <a:prstDash val="solid"/>
          </a:ln>
        </p:spPr>
      </p:sp>
      <p:sp>
        <p:nvSpPr>
          <p:cNvPr id="5" name="Text 3"/>
          <p:cNvSpPr txBox="1"/>
          <p:nvPr/>
        </p:nvSpPr>
        <p:spPr>
          <a:xfrm>
            <a:off x="594360" y="1682496"/>
            <a:ext cx="365760" cy="365760"/>
          </a:xfrm>
          <a:prstGeom prst="rect">
            <a:avLst/>
          </a:prstGeom>
          <a:noFill/>
          <a:ln/>
        </p:spPr>
        <p:txBody>
          <a:bodyPr wrap="square" lIns="0" tIns="0" rIns="0" bIns="0" rtlCol="0" anchor="ctr"/>
          <a:lstStyle/>
          <a:p>
            <a:pPr algn="ctr" indent="0" marL="0">
              <a:buNone/>
            </a:pPr>
            <a:r>
              <a:rPr lang="en-US" sz="1200" b="1" dirty="0">
                <a:solidFill>
                  <a:srgbClr val="58A6FF"/>
                </a:solidFill>
                <a:latin typeface="Arial" pitchFamily="34" charset="0"/>
                <a:ea typeface="Arial" pitchFamily="34" charset="-122"/>
                <a:cs typeface="Arial" pitchFamily="34" charset="-120"/>
              </a:rPr>
              <a:t>1</a:t>
            </a:r>
            <a:endParaRPr lang="en-US" sz="1200" dirty="0"/>
          </a:p>
        </p:txBody>
      </p:sp>
      <p:sp>
        <p:nvSpPr>
          <p:cNvPr id="6" name="Text 4"/>
          <p:cNvSpPr txBox="1"/>
          <p:nvPr/>
        </p:nvSpPr>
        <p:spPr>
          <a:xfrm>
            <a:off x="1124712" y="1627632"/>
            <a:ext cx="4023360" cy="292608"/>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Load Demo Data</a:t>
            </a:r>
            <a:endParaRPr lang="en-US" sz="1400" dirty="0"/>
          </a:p>
        </p:txBody>
      </p:sp>
      <p:sp>
        <p:nvSpPr>
          <p:cNvPr id="7" name="Text 5"/>
          <p:cNvSpPr txBox="1"/>
          <p:nvPr/>
        </p:nvSpPr>
        <p:spPr>
          <a:xfrm>
            <a:off x="1124712" y="1920240"/>
            <a:ext cx="4069080" cy="438912"/>
          </a:xfrm>
          <a:prstGeom prst="rect">
            <a:avLst/>
          </a:prstGeom>
          <a:noFill/>
          <a:ln/>
        </p:spPr>
        <p:txBody>
          <a:bodyPr wrap="square" lIns="0" tIns="0" rIns="0" bIns="0" rtlCol="0" anchor="ctr"/>
          <a:lstStyle/>
          <a:p>
            <a:pPr indent="0" marL="0">
              <a:lnSpc>
                <a:spcPct val="112000"/>
              </a:lnSpc>
              <a:buNone/>
            </a:pPr>
            <a:r>
              <a:rPr lang="en-US" sz="1050" dirty="0">
                <a:solidFill>
                  <a:srgbClr val="8B949E"/>
                </a:solidFill>
                <a:latin typeface="Calibri" pitchFamily="34" charset="0"/>
                <a:ea typeface="Calibri" pitchFamily="34" charset="-122"/>
                <a:cs typeface="Calibri" pitchFamily="34" charset="-120"/>
              </a:rPr>
              <a:t>Sidebar button seeds the full fictional dataset instantly.</a:t>
            </a:r>
            <a:endParaRPr lang="en-US" sz="1050" dirty="0"/>
          </a:p>
        </p:txBody>
      </p:sp>
      <p:sp>
        <p:nvSpPr>
          <p:cNvPr id="8" name="Shape 6"/>
          <p:cNvSpPr/>
          <p:nvPr/>
        </p:nvSpPr>
        <p:spPr>
          <a:xfrm>
            <a:off x="594360" y="2468880"/>
            <a:ext cx="365760" cy="365760"/>
          </a:xfrm>
          <a:prstGeom prst="ellipse">
            <a:avLst/>
          </a:prstGeom>
          <a:solidFill>
            <a:srgbClr val="1B2431"/>
          </a:solidFill>
          <a:ln w="12700">
            <a:solidFill>
              <a:srgbClr val="58A6FF"/>
            </a:solidFill>
            <a:prstDash val="solid"/>
          </a:ln>
        </p:spPr>
      </p:sp>
      <p:sp>
        <p:nvSpPr>
          <p:cNvPr id="9" name="Text 7"/>
          <p:cNvSpPr txBox="1"/>
          <p:nvPr/>
        </p:nvSpPr>
        <p:spPr>
          <a:xfrm>
            <a:off x="594360" y="2468880"/>
            <a:ext cx="365760" cy="365760"/>
          </a:xfrm>
          <a:prstGeom prst="rect">
            <a:avLst/>
          </a:prstGeom>
          <a:noFill/>
          <a:ln/>
        </p:spPr>
        <p:txBody>
          <a:bodyPr wrap="square" lIns="0" tIns="0" rIns="0" bIns="0" rtlCol="0" anchor="ctr"/>
          <a:lstStyle/>
          <a:p>
            <a:pPr algn="ctr" indent="0" marL="0">
              <a:buNone/>
            </a:pPr>
            <a:r>
              <a:rPr lang="en-US" sz="1200" b="1" dirty="0">
                <a:solidFill>
                  <a:srgbClr val="58A6FF"/>
                </a:solidFill>
                <a:latin typeface="Arial" pitchFamily="34" charset="0"/>
                <a:ea typeface="Arial" pitchFamily="34" charset="-122"/>
                <a:cs typeface="Arial" pitchFamily="34" charset="-120"/>
              </a:rPr>
              <a:t>2</a:t>
            </a:r>
            <a:endParaRPr lang="en-US" sz="1200" dirty="0"/>
          </a:p>
        </p:txBody>
      </p:sp>
      <p:sp>
        <p:nvSpPr>
          <p:cNvPr id="10" name="Text 8"/>
          <p:cNvSpPr txBox="1"/>
          <p:nvPr/>
        </p:nvSpPr>
        <p:spPr>
          <a:xfrm>
            <a:off x="1124712" y="2414016"/>
            <a:ext cx="4023360" cy="292608"/>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Dashboard</a:t>
            </a:r>
            <a:endParaRPr lang="en-US" sz="1400" dirty="0"/>
          </a:p>
        </p:txBody>
      </p:sp>
      <p:sp>
        <p:nvSpPr>
          <p:cNvPr id="11" name="Text 9"/>
          <p:cNvSpPr txBox="1"/>
          <p:nvPr/>
        </p:nvSpPr>
        <p:spPr>
          <a:xfrm>
            <a:off x="1124712" y="2706624"/>
            <a:ext cx="4069080" cy="438912"/>
          </a:xfrm>
          <a:prstGeom prst="rect">
            <a:avLst/>
          </a:prstGeom>
          <a:noFill/>
          <a:ln/>
        </p:spPr>
        <p:txBody>
          <a:bodyPr wrap="square" lIns="0" tIns="0" rIns="0" bIns="0" rtlCol="0" anchor="ctr"/>
          <a:lstStyle/>
          <a:p>
            <a:pPr indent="0" marL="0">
              <a:lnSpc>
                <a:spcPct val="112000"/>
              </a:lnSpc>
              <a:buNone/>
            </a:pPr>
            <a:r>
              <a:rPr lang="en-US" sz="1050" dirty="0">
                <a:solidFill>
                  <a:srgbClr val="8B949E"/>
                </a:solidFill>
                <a:latin typeface="Calibri" pitchFamily="34" charset="0"/>
                <a:ea typeface="Calibri" pitchFamily="34" charset="-122"/>
                <a:cs typeface="Calibri" pitchFamily="34" charset="-120"/>
              </a:rPr>
              <a:t>Six KPIs, 7-day trend, severity mix and top targeted assets.</a:t>
            </a:r>
            <a:endParaRPr lang="en-US" sz="1050" dirty="0"/>
          </a:p>
        </p:txBody>
      </p:sp>
      <p:sp>
        <p:nvSpPr>
          <p:cNvPr id="12" name="Shape 10"/>
          <p:cNvSpPr/>
          <p:nvPr/>
        </p:nvSpPr>
        <p:spPr>
          <a:xfrm>
            <a:off x="594360" y="3255264"/>
            <a:ext cx="365760" cy="365760"/>
          </a:xfrm>
          <a:prstGeom prst="ellipse">
            <a:avLst/>
          </a:prstGeom>
          <a:solidFill>
            <a:srgbClr val="1B2431"/>
          </a:solidFill>
          <a:ln w="12700">
            <a:solidFill>
              <a:srgbClr val="58A6FF"/>
            </a:solidFill>
            <a:prstDash val="solid"/>
          </a:ln>
        </p:spPr>
      </p:sp>
      <p:sp>
        <p:nvSpPr>
          <p:cNvPr id="13" name="Text 11"/>
          <p:cNvSpPr txBox="1"/>
          <p:nvPr/>
        </p:nvSpPr>
        <p:spPr>
          <a:xfrm>
            <a:off x="594360" y="3255264"/>
            <a:ext cx="365760" cy="365760"/>
          </a:xfrm>
          <a:prstGeom prst="rect">
            <a:avLst/>
          </a:prstGeom>
          <a:noFill/>
          <a:ln/>
        </p:spPr>
        <p:txBody>
          <a:bodyPr wrap="square" lIns="0" tIns="0" rIns="0" bIns="0" rtlCol="0" anchor="ctr"/>
          <a:lstStyle/>
          <a:p>
            <a:pPr algn="ctr" indent="0" marL="0">
              <a:buNone/>
            </a:pPr>
            <a:r>
              <a:rPr lang="en-US" sz="1200" b="1" dirty="0">
                <a:solidFill>
                  <a:srgbClr val="58A6FF"/>
                </a:solidFill>
                <a:latin typeface="Arial" pitchFamily="34" charset="0"/>
                <a:ea typeface="Arial" pitchFamily="34" charset="-122"/>
                <a:cs typeface="Arial" pitchFamily="34" charset="-120"/>
              </a:rPr>
              <a:t>3</a:t>
            </a:r>
            <a:endParaRPr lang="en-US" sz="1200" dirty="0"/>
          </a:p>
        </p:txBody>
      </p:sp>
      <p:sp>
        <p:nvSpPr>
          <p:cNvPr id="14" name="Text 12"/>
          <p:cNvSpPr txBox="1"/>
          <p:nvPr/>
        </p:nvSpPr>
        <p:spPr>
          <a:xfrm>
            <a:off x="1124712" y="3200400"/>
            <a:ext cx="4023360" cy="292608"/>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Threat Map</a:t>
            </a:r>
            <a:endParaRPr lang="en-US" sz="1400" dirty="0"/>
          </a:p>
        </p:txBody>
      </p:sp>
      <p:sp>
        <p:nvSpPr>
          <p:cNvPr id="15" name="Text 13"/>
          <p:cNvSpPr txBox="1"/>
          <p:nvPr/>
        </p:nvSpPr>
        <p:spPr>
          <a:xfrm>
            <a:off x="1124712" y="3493008"/>
            <a:ext cx="4069080" cy="438912"/>
          </a:xfrm>
          <a:prstGeom prst="rect">
            <a:avLst/>
          </a:prstGeom>
          <a:noFill/>
          <a:ln/>
        </p:spPr>
        <p:txBody>
          <a:bodyPr wrap="square" lIns="0" tIns="0" rIns="0" bIns="0" rtlCol="0" anchor="ctr"/>
          <a:lstStyle/>
          <a:p>
            <a:pPr indent="0" marL="0">
              <a:lnSpc>
                <a:spcPct val="112000"/>
              </a:lnSpc>
              <a:buNone/>
            </a:pPr>
            <a:r>
              <a:rPr lang="en-US" sz="1050" dirty="0">
                <a:solidFill>
                  <a:srgbClr val="8B949E"/>
                </a:solidFill>
                <a:latin typeface="Calibri" pitchFamily="34" charset="0"/>
                <a:ea typeface="Calibri" pitchFamily="34" charset="-122"/>
                <a:cs typeface="Calibri" pitchFamily="34" charset="-120"/>
              </a:rPr>
              <a:t>Leaflet map with clustered markers; filter by severity, country, technique or risk band.</a:t>
            </a:r>
            <a:endParaRPr lang="en-US" sz="1050" dirty="0"/>
          </a:p>
        </p:txBody>
      </p:sp>
      <p:sp>
        <p:nvSpPr>
          <p:cNvPr id="16" name="Shape 14"/>
          <p:cNvSpPr/>
          <p:nvPr/>
        </p:nvSpPr>
        <p:spPr>
          <a:xfrm>
            <a:off x="594360" y="4041648"/>
            <a:ext cx="365760" cy="365760"/>
          </a:xfrm>
          <a:prstGeom prst="ellipse">
            <a:avLst/>
          </a:prstGeom>
          <a:solidFill>
            <a:srgbClr val="1B2431"/>
          </a:solidFill>
          <a:ln w="12700">
            <a:solidFill>
              <a:srgbClr val="58A6FF"/>
            </a:solidFill>
            <a:prstDash val="solid"/>
          </a:ln>
        </p:spPr>
      </p:sp>
      <p:sp>
        <p:nvSpPr>
          <p:cNvPr id="17" name="Text 15"/>
          <p:cNvSpPr txBox="1"/>
          <p:nvPr/>
        </p:nvSpPr>
        <p:spPr>
          <a:xfrm>
            <a:off x="594360" y="4041648"/>
            <a:ext cx="365760" cy="365760"/>
          </a:xfrm>
          <a:prstGeom prst="rect">
            <a:avLst/>
          </a:prstGeom>
          <a:noFill/>
          <a:ln/>
        </p:spPr>
        <p:txBody>
          <a:bodyPr wrap="square" lIns="0" tIns="0" rIns="0" bIns="0" rtlCol="0" anchor="ctr"/>
          <a:lstStyle/>
          <a:p>
            <a:pPr algn="ctr" indent="0" marL="0">
              <a:buNone/>
            </a:pPr>
            <a:r>
              <a:rPr lang="en-US" sz="1200" b="1" dirty="0">
                <a:solidFill>
                  <a:srgbClr val="58A6FF"/>
                </a:solidFill>
                <a:latin typeface="Arial" pitchFamily="34" charset="0"/>
                <a:ea typeface="Arial" pitchFamily="34" charset="-122"/>
                <a:cs typeface="Arial" pitchFamily="34" charset="-120"/>
              </a:rPr>
              <a:t>4</a:t>
            </a:r>
            <a:endParaRPr lang="en-US" sz="1200" dirty="0"/>
          </a:p>
        </p:txBody>
      </p:sp>
      <p:sp>
        <p:nvSpPr>
          <p:cNvPr id="18" name="Text 16"/>
          <p:cNvSpPr txBox="1"/>
          <p:nvPr/>
        </p:nvSpPr>
        <p:spPr>
          <a:xfrm>
            <a:off x="1124712" y="3986784"/>
            <a:ext cx="4023360" cy="292608"/>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Correlated Incidents</a:t>
            </a:r>
            <a:endParaRPr lang="en-US" sz="1400" dirty="0"/>
          </a:p>
        </p:txBody>
      </p:sp>
      <p:sp>
        <p:nvSpPr>
          <p:cNvPr id="19" name="Text 17"/>
          <p:cNvSpPr txBox="1"/>
          <p:nvPr/>
        </p:nvSpPr>
        <p:spPr>
          <a:xfrm>
            <a:off x="1124712" y="4279392"/>
            <a:ext cx="4069080" cy="438912"/>
          </a:xfrm>
          <a:prstGeom prst="rect">
            <a:avLst/>
          </a:prstGeom>
          <a:noFill/>
          <a:ln/>
        </p:spPr>
        <p:txBody>
          <a:bodyPr wrap="square" lIns="0" tIns="0" rIns="0" bIns="0" rtlCol="0" anchor="ctr"/>
          <a:lstStyle/>
          <a:p>
            <a:pPr indent="0" marL="0">
              <a:lnSpc>
                <a:spcPct val="112000"/>
              </a:lnSpc>
              <a:buNone/>
            </a:pPr>
            <a:r>
              <a:rPr lang="en-US" sz="1050" dirty="0">
                <a:solidFill>
                  <a:srgbClr val="8B949E"/>
                </a:solidFill>
                <a:latin typeface="Calibri" pitchFamily="34" charset="0"/>
                <a:ea typeface="Calibri" pitchFamily="34" charset="-122"/>
                <a:cs typeface="Calibri" pitchFamily="34" charset="-120"/>
              </a:rPr>
              <a:t>Watch five alerts collapse into one incident, then open it in Incident Management.</a:t>
            </a:r>
            <a:endParaRPr lang="en-US" sz="1050" dirty="0"/>
          </a:p>
        </p:txBody>
      </p:sp>
      <p:sp>
        <p:nvSpPr>
          <p:cNvPr id="20" name="Shape 18"/>
          <p:cNvSpPr/>
          <p:nvPr/>
        </p:nvSpPr>
        <p:spPr>
          <a:xfrm>
            <a:off x="594360" y="4828032"/>
            <a:ext cx="365760" cy="365760"/>
          </a:xfrm>
          <a:prstGeom prst="ellipse">
            <a:avLst/>
          </a:prstGeom>
          <a:solidFill>
            <a:srgbClr val="1B2431"/>
          </a:solidFill>
          <a:ln w="12700">
            <a:solidFill>
              <a:srgbClr val="58A6FF"/>
            </a:solidFill>
            <a:prstDash val="solid"/>
          </a:ln>
        </p:spPr>
      </p:sp>
      <p:sp>
        <p:nvSpPr>
          <p:cNvPr id="21" name="Text 19"/>
          <p:cNvSpPr txBox="1"/>
          <p:nvPr/>
        </p:nvSpPr>
        <p:spPr>
          <a:xfrm>
            <a:off x="594360" y="4828032"/>
            <a:ext cx="365760" cy="365760"/>
          </a:xfrm>
          <a:prstGeom prst="rect">
            <a:avLst/>
          </a:prstGeom>
          <a:noFill/>
          <a:ln/>
        </p:spPr>
        <p:txBody>
          <a:bodyPr wrap="square" lIns="0" tIns="0" rIns="0" bIns="0" rtlCol="0" anchor="ctr"/>
          <a:lstStyle/>
          <a:p>
            <a:pPr algn="ctr" indent="0" marL="0">
              <a:buNone/>
            </a:pPr>
            <a:r>
              <a:rPr lang="en-US" sz="1200" b="1" dirty="0">
                <a:solidFill>
                  <a:srgbClr val="58A6FF"/>
                </a:solidFill>
                <a:latin typeface="Arial" pitchFamily="34" charset="0"/>
                <a:ea typeface="Arial" pitchFamily="34" charset="-122"/>
                <a:cs typeface="Arial" pitchFamily="34" charset="-120"/>
              </a:rPr>
              <a:t>5</a:t>
            </a:r>
            <a:endParaRPr lang="en-US" sz="1200" dirty="0"/>
          </a:p>
        </p:txBody>
      </p:sp>
      <p:sp>
        <p:nvSpPr>
          <p:cNvPr id="22" name="Text 20"/>
          <p:cNvSpPr txBox="1"/>
          <p:nvPr/>
        </p:nvSpPr>
        <p:spPr>
          <a:xfrm>
            <a:off x="1124712" y="4773168"/>
            <a:ext cx="4023360" cy="292608"/>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BLUF + Export</a:t>
            </a:r>
            <a:endParaRPr lang="en-US" sz="1400" dirty="0"/>
          </a:p>
        </p:txBody>
      </p:sp>
      <p:sp>
        <p:nvSpPr>
          <p:cNvPr id="23" name="Text 21"/>
          <p:cNvSpPr txBox="1"/>
          <p:nvPr/>
        </p:nvSpPr>
        <p:spPr>
          <a:xfrm>
            <a:off x="1124712" y="5065776"/>
            <a:ext cx="4069080" cy="438912"/>
          </a:xfrm>
          <a:prstGeom prst="rect">
            <a:avLst/>
          </a:prstGeom>
          <a:noFill/>
          <a:ln/>
        </p:spPr>
        <p:txBody>
          <a:bodyPr wrap="square" lIns="0" tIns="0" rIns="0" bIns="0" rtlCol="0" anchor="ctr"/>
          <a:lstStyle/>
          <a:p>
            <a:pPr indent="0" marL="0">
              <a:lnSpc>
                <a:spcPct val="112000"/>
              </a:lnSpc>
              <a:buNone/>
            </a:pPr>
            <a:r>
              <a:rPr lang="en-US" sz="1050" dirty="0">
                <a:solidFill>
                  <a:srgbClr val="8B949E"/>
                </a:solidFill>
                <a:latin typeface="Calibri" pitchFamily="34" charset="0"/>
                <a:ea typeface="Calibri" pitchFamily="34" charset="-122"/>
                <a:cs typeface="Calibri" pitchFamily="34" charset="-120"/>
              </a:rPr>
              <a:t>Generate the report, then export the four-sheet Excel workbook.</a:t>
            </a:r>
            <a:endParaRPr lang="en-US" sz="1050" dirty="0"/>
          </a:p>
        </p:txBody>
      </p:sp>
      <p:sp>
        <p:nvSpPr>
          <p:cNvPr id="24" name="Shape 22"/>
          <p:cNvSpPr/>
          <p:nvPr/>
        </p:nvSpPr>
        <p:spPr>
          <a:xfrm>
            <a:off x="5577840" y="1572768"/>
            <a:ext cx="6016752" cy="3822192"/>
          </a:xfrm>
          <a:prstGeom prst="roundRect">
            <a:avLst>
              <a:gd name="adj" fmla="val 1435"/>
            </a:avLst>
          </a:prstGeom>
          <a:solidFill>
            <a:srgbClr val="141B26"/>
          </a:solidFill>
          <a:ln w="12700">
            <a:solidFill>
              <a:srgbClr val="2B3644"/>
            </a:solidFill>
            <a:prstDash val="solid"/>
          </a:ln>
        </p:spPr>
      </p:sp>
      <p:sp>
        <p:nvSpPr>
          <p:cNvPr id="25" name="Text 23"/>
          <p:cNvSpPr txBox="1"/>
          <p:nvPr/>
        </p:nvSpPr>
        <p:spPr>
          <a:xfrm>
            <a:off x="5833872" y="1719072"/>
            <a:ext cx="3291840" cy="237744"/>
          </a:xfrm>
          <a:prstGeom prst="rect">
            <a:avLst/>
          </a:prstGeom>
          <a:noFill/>
          <a:ln/>
        </p:spPr>
        <p:txBody>
          <a:bodyPr wrap="square" lIns="0" tIns="0" rIns="0" bIns="0" rtlCol="0" anchor="ctr"/>
          <a:lstStyle/>
          <a:p>
            <a:pPr indent="0" marL="0">
              <a:buNone/>
            </a:pPr>
            <a:r>
              <a:rPr lang="en-US" sz="1050" b="1" dirty="0">
                <a:solidFill>
                  <a:srgbClr val="E6EDF3"/>
                </a:solidFill>
                <a:latin typeface="Arial" pitchFamily="34" charset="0"/>
                <a:ea typeface="Arial" pitchFamily="34" charset="-122"/>
                <a:cs typeface="Arial" pitchFamily="34" charset="-120"/>
              </a:rPr>
              <a:t>ThreatGuard AI  ·  Dashboard</a:t>
            </a:r>
            <a:endParaRPr lang="en-US" sz="1050" dirty="0"/>
          </a:p>
        </p:txBody>
      </p:sp>
      <p:sp>
        <p:nvSpPr>
          <p:cNvPr id="26" name="Shape 24"/>
          <p:cNvSpPr/>
          <p:nvPr/>
        </p:nvSpPr>
        <p:spPr>
          <a:xfrm>
            <a:off x="9966960" y="1719072"/>
            <a:ext cx="1389888" cy="256032"/>
          </a:xfrm>
          <a:prstGeom prst="roundRect">
            <a:avLst>
              <a:gd name="adj" fmla="val 35714"/>
            </a:avLst>
          </a:prstGeom>
          <a:solidFill>
            <a:srgbClr val="2A1418"/>
          </a:solidFill>
          <a:ln w="12700">
            <a:solidFill>
              <a:srgbClr val="F85149"/>
            </a:solidFill>
            <a:prstDash val="solid"/>
          </a:ln>
        </p:spPr>
      </p:sp>
      <p:sp>
        <p:nvSpPr>
          <p:cNvPr id="27" name="Text 25"/>
          <p:cNvSpPr txBox="1"/>
          <p:nvPr/>
        </p:nvSpPr>
        <p:spPr>
          <a:xfrm>
            <a:off x="9966960" y="1719072"/>
            <a:ext cx="1389888" cy="256032"/>
          </a:xfrm>
          <a:prstGeom prst="rect">
            <a:avLst/>
          </a:prstGeom>
          <a:noFill/>
          <a:ln/>
        </p:spPr>
        <p:txBody>
          <a:bodyPr wrap="square" lIns="0" tIns="0" rIns="0" bIns="0" rtlCol="0" anchor="ctr"/>
          <a:lstStyle/>
          <a:p>
            <a:pPr algn="ctr" indent="0" marL="0">
              <a:buNone/>
            </a:pPr>
            <a:r>
              <a:rPr lang="en-US" sz="950" b="1" spc="60" kern="0" dirty="0">
                <a:solidFill>
                  <a:srgbClr val="F85149"/>
                </a:solidFill>
                <a:latin typeface="Arial" pitchFamily="34" charset="0"/>
                <a:ea typeface="Arial" pitchFamily="34" charset="-122"/>
                <a:cs typeface="Arial" pitchFamily="34" charset="-120"/>
              </a:rPr>
              <a:t>FICTIONAL</a:t>
            </a:r>
            <a:endParaRPr lang="en-US" sz="950" dirty="0"/>
          </a:p>
        </p:txBody>
      </p:sp>
      <p:sp>
        <p:nvSpPr>
          <p:cNvPr id="28" name="Shape 26"/>
          <p:cNvSpPr/>
          <p:nvPr/>
        </p:nvSpPr>
        <p:spPr>
          <a:xfrm>
            <a:off x="5833872" y="2103120"/>
            <a:ext cx="1737360" cy="841248"/>
          </a:xfrm>
          <a:prstGeom prst="roundRect">
            <a:avLst>
              <a:gd name="adj" fmla="val 6522"/>
            </a:avLst>
          </a:prstGeom>
          <a:solidFill>
            <a:srgbClr val="1B2431"/>
          </a:solidFill>
          <a:ln/>
        </p:spPr>
      </p:sp>
      <p:sp>
        <p:nvSpPr>
          <p:cNvPr id="29" name="Text 27"/>
          <p:cNvSpPr txBox="1"/>
          <p:nvPr/>
        </p:nvSpPr>
        <p:spPr>
          <a:xfrm>
            <a:off x="5961888" y="2176272"/>
            <a:ext cx="1463040" cy="411480"/>
          </a:xfrm>
          <a:prstGeom prst="rect">
            <a:avLst/>
          </a:prstGeom>
          <a:noFill/>
          <a:ln/>
        </p:spPr>
        <p:txBody>
          <a:bodyPr wrap="square" lIns="0" tIns="0" rIns="0" bIns="0" rtlCol="0" anchor="ctr"/>
          <a:lstStyle/>
          <a:p>
            <a:pPr indent="0" marL="0">
              <a:buNone/>
            </a:pPr>
            <a:r>
              <a:rPr lang="en-US" sz="2400" b="1" dirty="0">
                <a:solidFill>
                  <a:srgbClr val="58A6FF"/>
                </a:solidFill>
                <a:latin typeface="Arial" pitchFamily="34" charset="0"/>
                <a:ea typeface="Arial" pitchFamily="34" charset="-122"/>
                <a:cs typeface="Arial" pitchFamily="34" charset="-120"/>
              </a:rPr>
              <a:t>24</a:t>
            </a:r>
            <a:endParaRPr lang="en-US" sz="2400" dirty="0"/>
          </a:p>
        </p:txBody>
      </p:sp>
      <p:sp>
        <p:nvSpPr>
          <p:cNvPr id="30" name="Text 28"/>
          <p:cNvSpPr txBox="1"/>
          <p:nvPr/>
        </p:nvSpPr>
        <p:spPr>
          <a:xfrm>
            <a:off x="5961888" y="2606040"/>
            <a:ext cx="1517904" cy="237744"/>
          </a:xfrm>
          <a:prstGeom prst="rect">
            <a:avLst/>
          </a:prstGeom>
          <a:noFill/>
          <a:ln/>
        </p:spPr>
        <p:txBody>
          <a:bodyPr wrap="square" lIns="0" tIns="0" rIns="0" bIns="0" rtlCol="0" anchor="ctr"/>
          <a:lstStyle/>
          <a:p>
            <a:pPr indent="0" marL="0">
              <a:buNone/>
            </a:pPr>
            <a:r>
              <a:rPr lang="en-US" sz="950" dirty="0">
                <a:solidFill>
                  <a:srgbClr val="8B949E"/>
                </a:solidFill>
                <a:latin typeface="Calibri" pitchFamily="34" charset="0"/>
                <a:ea typeface="Calibri" pitchFamily="34" charset="-122"/>
                <a:cs typeface="Calibri" pitchFamily="34" charset="-120"/>
              </a:rPr>
              <a:t>Total Alerts</a:t>
            </a:r>
            <a:endParaRPr lang="en-US" sz="950" dirty="0"/>
          </a:p>
        </p:txBody>
      </p:sp>
      <p:sp>
        <p:nvSpPr>
          <p:cNvPr id="31" name="Shape 29"/>
          <p:cNvSpPr/>
          <p:nvPr/>
        </p:nvSpPr>
        <p:spPr>
          <a:xfrm>
            <a:off x="7717536" y="2103120"/>
            <a:ext cx="1737360" cy="841248"/>
          </a:xfrm>
          <a:prstGeom prst="roundRect">
            <a:avLst>
              <a:gd name="adj" fmla="val 6522"/>
            </a:avLst>
          </a:prstGeom>
          <a:solidFill>
            <a:srgbClr val="1B2431"/>
          </a:solidFill>
          <a:ln/>
        </p:spPr>
      </p:sp>
      <p:sp>
        <p:nvSpPr>
          <p:cNvPr id="32" name="Text 30"/>
          <p:cNvSpPr txBox="1"/>
          <p:nvPr/>
        </p:nvSpPr>
        <p:spPr>
          <a:xfrm>
            <a:off x="7845552" y="2176272"/>
            <a:ext cx="1463040" cy="411480"/>
          </a:xfrm>
          <a:prstGeom prst="rect">
            <a:avLst/>
          </a:prstGeom>
          <a:noFill/>
          <a:ln/>
        </p:spPr>
        <p:txBody>
          <a:bodyPr wrap="square" lIns="0" tIns="0" rIns="0" bIns="0" rtlCol="0" anchor="ctr"/>
          <a:lstStyle/>
          <a:p>
            <a:pPr indent="0" marL="0">
              <a:buNone/>
            </a:pPr>
            <a:r>
              <a:rPr lang="en-US" sz="2400" b="1" dirty="0">
                <a:solidFill>
                  <a:srgbClr val="F85149"/>
                </a:solidFill>
                <a:latin typeface="Arial" pitchFamily="34" charset="0"/>
                <a:ea typeface="Arial" pitchFamily="34" charset="-122"/>
                <a:cs typeface="Arial" pitchFamily="34" charset="-120"/>
              </a:rPr>
              <a:t>6</a:t>
            </a:r>
            <a:endParaRPr lang="en-US" sz="2400" dirty="0"/>
          </a:p>
        </p:txBody>
      </p:sp>
      <p:sp>
        <p:nvSpPr>
          <p:cNvPr id="33" name="Text 31"/>
          <p:cNvSpPr txBox="1"/>
          <p:nvPr/>
        </p:nvSpPr>
        <p:spPr>
          <a:xfrm>
            <a:off x="7845552" y="2606040"/>
            <a:ext cx="1517904" cy="237744"/>
          </a:xfrm>
          <a:prstGeom prst="rect">
            <a:avLst/>
          </a:prstGeom>
          <a:noFill/>
          <a:ln/>
        </p:spPr>
        <p:txBody>
          <a:bodyPr wrap="square" lIns="0" tIns="0" rIns="0" bIns="0" rtlCol="0" anchor="ctr"/>
          <a:lstStyle/>
          <a:p>
            <a:pPr indent="0" marL="0">
              <a:buNone/>
            </a:pPr>
            <a:r>
              <a:rPr lang="en-US" sz="950" dirty="0">
                <a:solidFill>
                  <a:srgbClr val="8B949E"/>
                </a:solidFill>
                <a:latin typeface="Calibri" pitchFamily="34" charset="0"/>
                <a:ea typeface="Calibri" pitchFamily="34" charset="-122"/>
                <a:cs typeface="Calibri" pitchFamily="34" charset="-120"/>
              </a:rPr>
              <a:t>Critical</a:t>
            </a:r>
            <a:endParaRPr lang="en-US" sz="950" dirty="0"/>
          </a:p>
        </p:txBody>
      </p:sp>
      <p:sp>
        <p:nvSpPr>
          <p:cNvPr id="34" name="Shape 32"/>
          <p:cNvSpPr/>
          <p:nvPr/>
        </p:nvSpPr>
        <p:spPr>
          <a:xfrm>
            <a:off x="9601200" y="2103120"/>
            <a:ext cx="1737360" cy="841248"/>
          </a:xfrm>
          <a:prstGeom prst="roundRect">
            <a:avLst>
              <a:gd name="adj" fmla="val 6522"/>
            </a:avLst>
          </a:prstGeom>
          <a:solidFill>
            <a:srgbClr val="1B2431"/>
          </a:solidFill>
          <a:ln/>
        </p:spPr>
      </p:sp>
      <p:sp>
        <p:nvSpPr>
          <p:cNvPr id="35" name="Text 33"/>
          <p:cNvSpPr txBox="1"/>
          <p:nvPr/>
        </p:nvSpPr>
        <p:spPr>
          <a:xfrm>
            <a:off x="9729216" y="2176272"/>
            <a:ext cx="1463040" cy="411480"/>
          </a:xfrm>
          <a:prstGeom prst="rect">
            <a:avLst/>
          </a:prstGeom>
          <a:noFill/>
          <a:ln/>
        </p:spPr>
        <p:txBody>
          <a:bodyPr wrap="square" lIns="0" tIns="0" rIns="0" bIns="0" rtlCol="0" anchor="ctr"/>
          <a:lstStyle/>
          <a:p>
            <a:pPr indent="0" marL="0">
              <a:buNone/>
            </a:pPr>
            <a:r>
              <a:rPr lang="en-US" sz="2400" b="1" dirty="0">
                <a:solidFill>
                  <a:srgbClr val="E3B341"/>
                </a:solidFill>
                <a:latin typeface="Arial" pitchFamily="34" charset="0"/>
                <a:ea typeface="Arial" pitchFamily="34" charset="-122"/>
                <a:cs typeface="Arial" pitchFamily="34" charset="-120"/>
              </a:rPr>
              <a:t>63</a:t>
            </a:r>
            <a:endParaRPr lang="en-US" sz="2400" dirty="0"/>
          </a:p>
        </p:txBody>
      </p:sp>
      <p:sp>
        <p:nvSpPr>
          <p:cNvPr id="36" name="Text 34"/>
          <p:cNvSpPr txBox="1"/>
          <p:nvPr/>
        </p:nvSpPr>
        <p:spPr>
          <a:xfrm>
            <a:off x="9729216" y="2606040"/>
            <a:ext cx="1517904" cy="237744"/>
          </a:xfrm>
          <a:prstGeom prst="rect">
            <a:avLst/>
          </a:prstGeom>
          <a:noFill/>
          <a:ln/>
        </p:spPr>
        <p:txBody>
          <a:bodyPr wrap="square" lIns="0" tIns="0" rIns="0" bIns="0" rtlCol="0" anchor="ctr"/>
          <a:lstStyle/>
          <a:p>
            <a:pPr indent="0" marL="0">
              <a:buNone/>
            </a:pPr>
            <a:r>
              <a:rPr lang="en-US" sz="950" dirty="0">
                <a:solidFill>
                  <a:srgbClr val="8B949E"/>
                </a:solidFill>
                <a:latin typeface="Calibri" pitchFamily="34" charset="0"/>
                <a:ea typeface="Calibri" pitchFamily="34" charset="-122"/>
                <a:cs typeface="Calibri" pitchFamily="34" charset="-120"/>
              </a:rPr>
              <a:t>Avg Risk Score</a:t>
            </a:r>
            <a:endParaRPr lang="en-US" sz="950" dirty="0"/>
          </a:p>
        </p:txBody>
      </p:sp>
      <p:graphicFrame>
        <p:nvGraphicFramePr>
          <p:cNvPr id="37" name="Chart 0" descr=""/>
          <p:cNvGraphicFramePr/>
          <p:nvPr/>
        </p:nvGraphicFramePr>
        <p:xfrm>
          <a:off x="5833872" y="3054096"/>
          <a:ext cx="5504688" cy="2194560"/>
        </p:xfrm>
        <a:graphic xmlns:a="http://schemas.openxmlformats.org/drawingml/2006/main">
          <a:graphicData uri="http://schemas.openxmlformats.org/drawingml/2006/chart">
            <c:chart xmlns:c="http://schemas.openxmlformats.org/drawingml/2006/chart" r:id="rId1"/>
          </a:graphicData>
        </a:graphic>
      </p:graphicFrame>
      <p:sp>
        <p:nvSpPr>
          <p:cNvPr id="38" name="Shape 35"/>
          <p:cNvSpPr/>
          <p:nvPr/>
        </p:nvSpPr>
        <p:spPr>
          <a:xfrm>
            <a:off x="594360" y="5559552"/>
            <a:ext cx="11002975" cy="713232"/>
          </a:xfrm>
          <a:prstGeom prst="roundRect">
            <a:avLst>
              <a:gd name="adj" fmla="val 7692"/>
            </a:avLst>
          </a:prstGeom>
          <a:solidFill>
            <a:srgbClr val="1B2431"/>
          </a:solidFill>
          <a:ln w="12700">
            <a:solidFill>
              <a:srgbClr val="2B3644"/>
            </a:solidFill>
            <a:prstDash val="solid"/>
          </a:ln>
        </p:spPr>
      </p:sp>
      <p:sp>
        <p:nvSpPr>
          <p:cNvPr id="39" name="Shape 36"/>
          <p:cNvSpPr/>
          <p:nvPr/>
        </p:nvSpPr>
        <p:spPr>
          <a:xfrm>
            <a:off x="795528" y="5724144"/>
            <a:ext cx="384048" cy="384048"/>
          </a:xfrm>
          <a:prstGeom prst="ellipse">
            <a:avLst/>
          </a:prstGeom>
          <a:solidFill>
            <a:srgbClr val="58A6FF"/>
          </a:solidFill>
          <a:ln/>
        </p:spPr>
      </p:sp>
      <p:pic>
        <p:nvPicPr>
          <p:cNvPr id="40" name="Image 0" descr="icons/play.png">    </p:cNvPr>
          <p:cNvPicPr>
            <a:picLocks noChangeAspect="1"/>
          </p:cNvPicPr>
          <p:nvPr/>
        </p:nvPicPr>
        <p:blipFill>
          <a:blip r:embed="rId2"/>
          <a:stretch>
            <a:fillRect/>
          </a:stretch>
        </p:blipFill>
        <p:spPr>
          <a:xfrm>
            <a:off x="899221" y="5827837"/>
            <a:ext cx="176662" cy="176662"/>
          </a:xfrm>
          <a:prstGeom prst="rect">
            <a:avLst/>
          </a:prstGeom>
        </p:spPr>
      </p:pic>
      <p:sp>
        <p:nvSpPr>
          <p:cNvPr id="41" name="Text 37"/>
          <p:cNvSpPr txBox="1"/>
          <p:nvPr/>
        </p:nvSpPr>
        <p:spPr>
          <a:xfrm>
            <a:off x="1325880" y="5669280"/>
            <a:ext cx="2377440" cy="237744"/>
          </a:xfrm>
          <a:prstGeom prst="rect">
            <a:avLst/>
          </a:prstGeom>
          <a:noFill/>
          <a:ln/>
        </p:spPr>
        <p:txBody>
          <a:bodyPr wrap="square" lIns="0" tIns="0" rIns="0" bIns="0" rtlCol="0" anchor="ctr"/>
          <a:lstStyle/>
          <a:p>
            <a:pPr indent="0" marL="0">
              <a:buNone/>
            </a:pPr>
            <a:r>
              <a:rPr lang="en-US" sz="1000" b="1" dirty="0">
                <a:solidFill>
                  <a:srgbClr val="8B949E"/>
                </a:solidFill>
                <a:latin typeface="Arial" pitchFamily="34" charset="0"/>
                <a:ea typeface="Arial" pitchFamily="34" charset="-122"/>
                <a:cs typeface="Arial" pitchFamily="34" charset="-120"/>
              </a:rPr>
              <a:t>Open the prototype</a:t>
            </a:r>
            <a:endParaRPr lang="en-US" sz="1000" dirty="0"/>
          </a:p>
        </p:txBody>
      </p:sp>
      <p:sp>
        <p:nvSpPr>
          <p:cNvPr id="42" name="Text 38"/>
          <p:cNvSpPr txBox="1"/>
          <p:nvPr/>
        </p:nvSpPr>
        <p:spPr>
          <a:xfrm>
            <a:off x="1325880" y="5888736"/>
            <a:ext cx="5486400" cy="274320"/>
          </a:xfrm>
          <a:prstGeom prst="rect">
            <a:avLst/>
          </a:prstGeom>
          <a:noFill/>
          <a:ln/>
        </p:spPr>
        <p:txBody>
          <a:bodyPr wrap="square" lIns="0" tIns="0" rIns="0" bIns="0" rtlCol="0" anchor="ctr"/>
          <a:lstStyle/>
          <a:p>
            <a:pPr indent="0" marL="0">
              <a:buNone/>
            </a:pPr>
            <a:r>
              <a:rPr lang="en-US" sz="1300" dirty="0">
                <a:solidFill>
                  <a:srgbClr val="58A6FF"/>
                </a:solidFill>
                <a:latin typeface="Courier New" pitchFamily="34" charset="0"/>
                <a:ea typeface="Courier New" pitchFamily="34" charset="-122"/>
                <a:cs typeface="Courier New" pitchFamily="34" charset="-120"/>
              </a:rPr>
              <a:t>magical-arithmetic-3db1c2.netlify.app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19"/>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50292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Built With, Known Limits, What Comes Next</a:t>
            </a:r>
            <a:endParaRPr lang="en-US" sz="3200" dirty="0"/>
          </a:p>
        </p:txBody>
      </p:sp>
      <p:sp>
        <p:nvSpPr>
          <p:cNvPr id="3" name="Text 1"/>
          <p:cNvSpPr txBox="1"/>
          <p:nvPr/>
        </p:nvSpPr>
        <p:spPr>
          <a:xfrm>
            <a:off x="594360" y="932688"/>
            <a:ext cx="11002975" cy="292608"/>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An honest scope statement — what this prototype is, and what it is not yet.</a:t>
            </a:r>
            <a:endParaRPr lang="en-US" sz="1350" dirty="0"/>
          </a:p>
        </p:txBody>
      </p:sp>
      <p:sp>
        <p:nvSpPr>
          <p:cNvPr id="4" name="Shape 2"/>
          <p:cNvSpPr/>
          <p:nvPr/>
        </p:nvSpPr>
        <p:spPr>
          <a:xfrm>
            <a:off x="594360" y="1572768"/>
            <a:ext cx="3454298" cy="3931920"/>
          </a:xfrm>
          <a:prstGeom prst="roundRect">
            <a:avLst>
              <a:gd name="adj" fmla="val 1588"/>
            </a:avLst>
          </a:prstGeom>
          <a:solidFill>
            <a:srgbClr val="141B26"/>
          </a:solidFill>
          <a:ln w="12700">
            <a:solidFill>
              <a:srgbClr val="2B3644"/>
            </a:solidFill>
            <a:prstDash val="solid"/>
          </a:ln>
        </p:spPr>
      </p:sp>
      <p:sp>
        <p:nvSpPr>
          <p:cNvPr id="5" name="Shape 3"/>
          <p:cNvSpPr/>
          <p:nvPr/>
        </p:nvSpPr>
        <p:spPr>
          <a:xfrm>
            <a:off x="868680" y="1847088"/>
            <a:ext cx="438912" cy="438912"/>
          </a:xfrm>
          <a:prstGeom prst="ellipse">
            <a:avLst/>
          </a:prstGeom>
          <a:solidFill>
            <a:srgbClr val="58A6FF"/>
          </a:solidFill>
          <a:ln/>
        </p:spPr>
      </p:sp>
      <p:pic>
        <p:nvPicPr>
          <p:cNvPr id="6" name="Image 0" descr="icons/cpu.png">    </p:cNvPr>
          <p:cNvPicPr>
            <a:picLocks noChangeAspect="1"/>
          </p:cNvPicPr>
          <p:nvPr/>
        </p:nvPicPr>
        <p:blipFill>
          <a:blip r:embed="rId1"/>
          <a:stretch>
            <a:fillRect/>
          </a:stretch>
        </p:blipFill>
        <p:spPr>
          <a:xfrm>
            <a:off x="987186" y="1965594"/>
            <a:ext cx="201900" cy="201900"/>
          </a:xfrm>
          <a:prstGeom prst="rect">
            <a:avLst/>
          </a:prstGeom>
        </p:spPr>
      </p:pic>
      <p:sp>
        <p:nvSpPr>
          <p:cNvPr id="7" name="Text 4"/>
          <p:cNvSpPr txBox="1"/>
          <p:nvPr/>
        </p:nvSpPr>
        <p:spPr>
          <a:xfrm>
            <a:off x="1417320" y="1847088"/>
            <a:ext cx="2357018" cy="438912"/>
          </a:xfrm>
          <a:prstGeom prst="rect">
            <a:avLst/>
          </a:prstGeom>
          <a:noFill/>
          <a:ln/>
        </p:spPr>
        <p:txBody>
          <a:bodyPr wrap="square" lIns="0" tIns="0" rIns="0" bIns="0" rtlCol="0" anchor="ctr"/>
          <a:lstStyle/>
          <a:p>
            <a:pPr indent="0" marL="0">
              <a:buNone/>
            </a:pPr>
            <a:r>
              <a:rPr lang="en-US" sz="1600" b="1" dirty="0">
                <a:solidFill>
                  <a:srgbClr val="E6EDF3"/>
                </a:solidFill>
                <a:latin typeface="Arial" pitchFamily="34" charset="0"/>
                <a:ea typeface="Arial" pitchFamily="34" charset="-122"/>
                <a:cs typeface="Arial" pitchFamily="34" charset="-120"/>
              </a:rPr>
              <a:t>Built With</a:t>
            </a:r>
            <a:endParaRPr lang="en-US" sz="1600" dirty="0"/>
          </a:p>
        </p:txBody>
      </p:sp>
      <p:sp>
        <p:nvSpPr>
          <p:cNvPr id="8" name="Shape 5"/>
          <p:cNvSpPr/>
          <p:nvPr/>
        </p:nvSpPr>
        <p:spPr>
          <a:xfrm>
            <a:off x="905256" y="2505456"/>
            <a:ext cx="91440" cy="91440"/>
          </a:xfrm>
          <a:prstGeom prst="ellipse">
            <a:avLst/>
          </a:prstGeom>
          <a:solidFill>
            <a:srgbClr val="58A6FF"/>
          </a:solidFill>
          <a:ln/>
        </p:spPr>
      </p:sp>
      <p:sp>
        <p:nvSpPr>
          <p:cNvPr id="9" name="Text 6"/>
          <p:cNvSpPr txBox="1"/>
          <p:nvPr/>
        </p:nvSpPr>
        <p:spPr>
          <a:xfrm>
            <a:off x="1143000" y="2414016"/>
            <a:ext cx="2631338" cy="27432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HTML5</a:t>
            </a:r>
            <a:endParaRPr lang="en-US" sz="1200" dirty="0"/>
          </a:p>
        </p:txBody>
      </p:sp>
      <p:sp>
        <p:nvSpPr>
          <p:cNvPr id="10" name="Shape 7"/>
          <p:cNvSpPr/>
          <p:nvPr/>
        </p:nvSpPr>
        <p:spPr>
          <a:xfrm>
            <a:off x="905256" y="2788920"/>
            <a:ext cx="91440" cy="91440"/>
          </a:xfrm>
          <a:prstGeom prst="ellipse">
            <a:avLst/>
          </a:prstGeom>
          <a:solidFill>
            <a:srgbClr val="58A6FF"/>
          </a:solidFill>
          <a:ln/>
        </p:spPr>
      </p:sp>
      <p:sp>
        <p:nvSpPr>
          <p:cNvPr id="11" name="Text 8"/>
          <p:cNvSpPr txBox="1"/>
          <p:nvPr/>
        </p:nvSpPr>
        <p:spPr>
          <a:xfrm>
            <a:off x="1143000" y="2697480"/>
            <a:ext cx="2631338" cy="27432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CSS3</a:t>
            </a:r>
            <a:endParaRPr lang="en-US" sz="1200" dirty="0"/>
          </a:p>
        </p:txBody>
      </p:sp>
      <p:sp>
        <p:nvSpPr>
          <p:cNvPr id="12" name="Shape 9"/>
          <p:cNvSpPr/>
          <p:nvPr/>
        </p:nvSpPr>
        <p:spPr>
          <a:xfrm>
            <a:off x="905256" y="3072384"/>
            <a:ext cx="91440" cy="91440"/>
          </a:xfrm>
          <a:prstGeom prst="ellipse">
            <a:avLst/>
          </a:prstGeom>
          <a:solidFill>
            <a:srgbClr val="58A6FF"/>
          </a:solidFill>
          <a:ln/>
        </p:spPr>
      </p:sp>
      <p:sp>
        <p:nvSpPr>
          <p:cNvPr id="13" name="Text 10"/>
          <p:cNvSpPr txBox="1"/>
          <p:nvPr/>
        </p:nvSpPr>
        <p:spPr>
          <a:xfrm>
            <a:off x="1143000" y="2980944"/>
            <a:ext cx="2631338" cy="27432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Vanilla JavaScript</a:t>
            </a:r>
            <a:endParaRPr lang="en-US" sz="1200" dirty="0"/>
          </a:p>
        </p:txBody>
      </p:sp>
      <p:sp>
        <p:nvSpPr>
          <p:cNvPr id="14" name="Shape 11"/>
          <p:cNvSpPr/>
          <p:nvPr/>
        </p:nvSpPr>
        <p:spPr>
          <a:xfrm>
            <a:off x="905256" y="3355848"/>
            <a:ext cx="91440" cy="91440"/>
          </a:xfrm>
          <a:prstGeom prst="ellipse">
            <a:avLst/>
          </a:prstGeom>
          <a:solidFill>
            <a:srgbClr val="58A6FF"/>
          </a:solidFill>
          <a:ln/>
        </p:spPr>
      </p:sp>
      <p:sp>
        <p:nvSpPr>
          <p:cNvPr id="15" name="Text 12"/>
          <p:cNvSpPr txBox="1"/>
          <p:nvPr/>
        </p:nvSpPr>
        <p:spPr>
          <a:xfrm>
            <a:off x="1143000" y="3264408"/>
            <a:ext cx="2631338" cy="27432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Bootstrap 5</a:t>
            </a:r>
            <a:endParaRPr lang="en-US" sz="1200" dirty="0"/>
          </a:p>
        </p:txBody>
      </p:sp>
      <p:sp>
        <p:nvSpPr>
          <p:cNvPr id="16" name="Shape 13"/>
          <p:cNvSpPr/>
          <p:nvPr/>
        </p:nvSpPr>
        <p:spPr>
          <a:xfrm>
            <a:off x="905256" y="3639312"/>
            <a:ext cx="91440" cy="91440"/>
          </a:xfrm>
          <a:prstGeom prst="ellipse">
            <a:avLst/>
          </a:prstGeom>
          <a:solidFill>
            <a:srgbClr val="58A6FF"/>
          </a:solidFill>
          <a:ln/>
        </p:spPr>
      </p:sp>
      <p:sp>
        <p:nvSpPr>
          <p:cNvPr id="17" name="Text 14"/>
          <p:cNvSpPr txBox="1"/>
          <p:nvPr/>
        </p:nvSpPr>
        <p:spPr>
          <a:xfrm>
            <a:off x="1143000" y="3547872"/>
            <a:ext cx="2631338" cy="27432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Chart.js</a:t>
            </a:r>
            <a:endParaRPr lang="en-US" sz="1200" dirty="0"/>
          </a:p>
        </p:txBody>
      </p:sp>
      <p:sp>
        <p:nvSpPr>
          <p:cNvPr id="18" name="Shape 15"/>
          <p:cNvSpPr/>
          <p:nvPr/>
        </p:nvSpPr>
        <p:spPr>
          <a:xfrm>
            <a:off x="905256" y="3922776"/>
            <a:ext cx="91440" cy="91440"/>
          </a:xfrm>
          <a:prstGeom prst="ellipse">
            <a:avLst/>
          </a:prstGeom>
          <a:solidFill>
            <a:srgbClr val="58A6FF"/>
          </a:solidFill>
          <a:ln/>
        </p:spPr>
      </p:sp>
      <p:sp>
        <p:nvSpPr>
          <p:cNvPr id="19" name="Text 16"/>
          <p:cNvSpPr txBox="1"/>
          <p:nvPr/>
        </p:nvSpPr>
        <p:spPr>
          <a:xfrm>
            <a:off x="1143000" y="3831336"/>
            <a:ext cx="2631338" cy="27432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Leaflet.js + MarkerCluster</a:t>
            </a:r>
            <a:endParaRPr lang="en-US" sz="1200" dirty="0"/>
          </a:p>
        </p:txBody>
      </p:sp>
      <p:sp>
        <p:nvSpPr>
          <p:cNvPr id="20" name="Shape 17"/>
          <p:cNvSpPr/>
          <p:nvPr/>
        </p:nvSpPr>
        <p:spPr>
          <a:xfrm>
            <a:off x="905256" y="4206240"/>
            <a:ext cx="91440" cy="91440"/>
          </a:xfrm>
          <a:prstGeom prst="ellipse">
            <a:avLst/>
          </a:prstGeom>
          <a:solidFill>
            <a:srgbClr val="58A6FF"/>
          </a:solidFill>
          <a:ln/>
        </p:spPr>
      </p:sp>
      <p:sp>
        <p:nvSpPr>
          <p:cNvPr id="21" name="Text 18"/>
          <p:cNvSpPr txBox="1"/>
          <p:nvPr/>
        </p:nvSpPr>
        <p:spPr>
          <a:xfrm>
            <a:off x="1143000" y="4114800"/>
            <a:ext cx="2631338" cy="27432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SheetJS (XLSX)</a:t>
            </a:r>
            <a:endParaRPr lang="en-US" sz="1200" dirty="0"/>
          </a:p>
        </p:txBody>
      </p:sp>
      <p:sp>
        <p:nvSpPr>
          <p:cNvPr id="22" name="Shape 19"/>
          <p:cNvSpPr/>
          <p:nvPr/>
        </p:nvSpPr>
        <p:spPr>
          <a:xfrm>
            <a:off x="905256" y="4489704"/>
            <a:ext cx="91440" cy="91440"/>
          </a:xfrm>
          <a:prstGeom prst="ellipse">
            <a:avLst/>
          </a:prstGeom>
          <a:solidFill>
            <a:srgbClr val="58A6FF"/>
          </a:solidFill>
          <a:ln/>
        </p:spPr>
      </p:sp>
      <p:sp>
        <p:nvSpPr>
          <p:cNvPr id="23" name="Text 20"/>
          <p:cNvSpPr txBox="1"/>
          <p:nvPr/>
        </p:nvSpPr>
        <p:spPr>
          <a:xfrm>
            <a:off x="1143000" y="4398264"/>
            <a:ext cx="2631338" cy="27432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Browser LocalStorage</a:t>
            </a:r>
            <a:endParaRPr lang="en-US" sz="1200" dirty="0"/>
          </a:p>
        </p:txBody>
      </p:sp>
      <p:sp>
        <p:nvSpPr>
          <p:cNvPr id="24" name="Text 21"/>
          <p:cNvSpPr txBox="1"/>
          <p:nvPr/>
        </p:nvSpPr>
        <p:spPr>
          <a:xfrm>
            <a:off x="905256" y="4809744"/>
            <a:ext cx="2832506" cy="548640"/>
          </a:xfrm>
          <a:prstGeom prst="rect">
            <a:avLst/>
          </a:prstGeom>
          <a:noFill/>
          <a:ln/>
        </p:spPr>
        <p:txBody>
          <a:bodyPr wrap="square" lIns="0" tIns="0" rIns="0" bIns="0" rtlCol="0" anchor="ctr"/>
          <a:lstStyle/>
          <a:p>
            <a:pPr indent="0" marL="0">
              <a:lnSpc>
                <a:spcPct val="115000"/>
              </a:lnSpc>
              <a:buNone/>
            </a:pPr>
            <a:r>
              <a:rPr lang="en-US" sz="1050" i="1" dirty="0">
                <a:solidFill>
                  <a:srgbClr val="6E7B8B"/>
                </a:solidFill>
                <a:latin typeface="Calibri" pitchFamily="34" charset="0"/>
                <a:ea typeface="Calibri" pitchFamily="34" charset="-122"/>
                <a:cs typeface="Calibri" pitchFamily="34" charset="-120"/>
              </a:rPr>
              <a:t>No backend, no build step, no dependencies to install — one folder of static files.</a:t>
            </a:r>
            <a:endParaRPr lang="en-US" sz="1050" dirty="0"/>
          </a:p>
        </p:txBody>
      </p:sp>
      <p:sp>
        <p:nvSpPr>
          <p:cNvPr id="25" name="Shape 22"/>
          <p:cNvSpPr/>
          <p:nvPr/>
        </p:nvSpPr>
        <p:spPr>
          <a:xfrm>
            <a:off x="4368698" y="1572768"/>
            <a:ext cx="3454298" cy="3931920"/>
          </a:xfrm>
          <a:prstGeom prst="roundRect">
            <a:avLst>
              <a:gd name="adj" fmla="val 1588"/>
            </a:avLst>
          </a:prstGeom>
          <a:solidFill>
            <a:srgbClr val="141B26"/>
          </a:solidFill>
          <a:ln w="12700">
            <a:solidFill>
              <a:srgbClr val="2B3644"/>
            </a:solidFill>
            <a:prstDash val="solid"/>
          </a:ln>
        </p:spPr>
      </p:sp>
      <p:sp>
        <p:nvSpPr>
          <p:cNvPr id="26" name="Shape 23"/>
          <p:cNvSpPr/>
          <p:nvPr/>
        </p:nvSpPr>
        <p:spPr>
          <a:xfrm>
            <a:off x="4643018" y="1847088"/>
            <a:ext cx="438912" cy="438912"/>
          </a:xfrm>
          <a:prstGeom prst="ellipse">
            <a:avLst/>
          </a:prstGeom>
          <a:solidFill>
            <a:srgbClr val="E3B341"/>
          </a:solidFill>
          <a:ln/>
        </p:spPr>
      </p:sp>
      <p:pic>
        <p:nvPicPr>
          <p:cNvPr id="27" name="Image 1" descr="icons/warn.png">    </p:cNvPr>
          <p:cNvPicPr>
            <a:picLocks noChangeAspect="1"/>
          </p:cNvPicPr>
          <p:nvPr/>
        </p:nvPicPr>
        <p:blipFill>
          <a:blip r:embed="rId2"/>
          <a:stretch>
            <a:fillRect/>
          </a:stretch>
        </p:blipFill>
        <p:spPr>
          <a:xfrm>
            <a:off x="4761525" y="1965594"/>
            <a:ext cx="201900" cy="201900"/>
          </a:xfrm>
          <a:prstGeom prst="rect">
            <a:avLst/>
          </a:prstGeom>
        </p:spPr>
      </p:pic>
      <p:sp>
        <p:nvSpPr>
          <p:cNvPr id="28" name="Text 24"/>
          <p:cNvSpPr txBox="1"/>
          <p:nvPr/>
        </p:nvSpPr>
        <p:spPr>
          <a:xfrm>
            <a:off x="5191658" y="1847088"/>
            <a:ext cx="2357018" cy="438912"/>
          </a:xfrm>
          <a:prstGeom prst="rect">
            <a:avLst/>
          </a:prstGeom>
          <a:noFill/>
          <a:ln/>
        </p:spPr>
        <p:txBody>
          <a:bodyPr wrap="square" lIns="0" tIns="0" rIns="0" bIns="0" rtlCol="0" anchor="ctr"/>
          <a:lstStyle/>
          <a:p>
            <a:pPr indent="0" marL="0">
              <a:buNone/>
            </a:pPr>
            <a:r>
              <a:rPr lang="en-US" sz="1600" b="1" dirty="0">
                <a:solidFill>
                  <a:srgbClr val="E6EDF3"/>
                </a:solidFill>
                <a:latin typeface="Arial" pitchFamily="34" charset="0"/>
                <a:ea typeface="Arial" pitchFamily="34" charset="-122"/>
                <a:cs typeface="Arial" pitchFamily="34" charset="-120"/>
              </a:rPr>
              <a:t>Known Limits</a:t>
            </a:r>
            <a:endParaRPr lang="en-US" sz="1600" dirty="0"/>
          </a:p>
        </p:txBody>
      </p:sp>
      <p:sp>
        <p:nvSpPr>
          <p:cNvPr id="29" name="Text 25"/>
          <p:cNvSpPr txBox="1"/>
          <p:nvPr/>
        </p:nvSpPr>
        <p:spPr>
          <a:xfrm>
            <a:off x="4679594" y="2468880"/>
            <a:ext cx="2832506" cy="2743200"/>
          </a:xfrm>
          <a:prstGeom prst="rect">
            <a:avLst/>
          </a:prstGeom>
          <a:noFill/>
          <a:ln/>
        </p:spPr>
        <p:txBody>
          <a:bodyPr wrap="square" lIns="0" tIns="0" rIns="0" bIns="0" rtlCol="0" anchor="ctr"/>
          <a:lstStyle/>
          <a:p>
            <a:pPr marL="203200" indent="-203200">
              <a:lnSpc>
                <a:spcPct val="112000"/>
              </a:lnSpc>
              <a:spcAft>
                <a:spcPts val="900"/>
              </a:spcAft>
              <a:buSzPct val="100000"/>
              <a:buChar char="•"/>
            </a:pPr>
            <a:r>
              <a:rPr lang="en-US" sz="1200" dirty="0">
                <a:solidFill>
                  <a:srgbClr val="8B949E"/>
                </a:solidFill>
                <a:latin typeface="Calibri" pitchFamily="34" charset="0"/>
                <a:ea typeface="Calibri" pitchFamily="34" charset="-122"/>
                <a:cs typeface="Calibri" pitchFamily="34" charset="-120"/>
              </a:rPr>
              <a:t>Every record is fictional demonstration data</a:t>
            </a:r>
            <a:endParaRPr lang="en-US" sz="1200" dirty="0"/>
          </a:p>
          <a:p>
            <a:pPr marL="203200" indent="-203200">
              <a:lnSpc>
                <a:spcPct val="112000"/>
              </a:lnSpc>
              <a:spcAft>
                <a:spcPts val="900"/>
              </a:spcAft>
              <a:buSzPct val="100000"/>
              <a:buChar char="•"/>
            </a:pPr>
            <a:r>
              <a:rPr lang="en-US" sz="1200" dirty="0">
                <a:solidFill>
                  <a:srgbClr val="8B949E"/>
                </a:solidFill>
                <a:latin typeface="Calibri" pitchFamily="34" charset="0"/>
                <a:ea typeface="Calibri" pitchFamily="34" charset="-122"/>
                <a:cs typeface="Calibri" pitchFamily="34" charset="-120"/>
              </a:rPr>
              <a:t>Scoring and correlation are transparent heuristics, not machine learning</a:t>
            </a:r>
            <a:endParaRPr lang="en-US" sz="1200" dirty="0"/>
          </a:p>
          <a:p>
            <a:pPr marL="203200" indent="-203200">
              <a:lnSpc>
                <a:spcPct val="112000"/>
              </a:lnSpc>
              <a:spcAft>
                <a:spcPts val="900"/>
              </a:spcAft>
              <a:buSzPct val="100000"/>
              <a:buChar char="•"/>
            </a:pPr>
            <a:r>
              <a:rPr lang="en-US" sz="1200" dirty="0">
                <a:solidFill>
                  <a:srgbClr val="8B949E"/>
                </a:solidFill>
                <a:latin typeface="Calibri" pitchFamily="34" charset="0"/>
                <a:ea typeface="Calibri" pitchFamily="34" charset="-122"/>
                <a:cs typeface="Calibri" pitchFamily="34" charset="-120"/>
              </a:rPr>
              <a:t>LocalStorage only — one analyst, one device, one browser</a:t>
            </a:r>
            <a:endParaRPr lang="en-US" sz="1200" dirty="0"/>
          </a:p>
          <a:p>
            <a:pPr marL="203200" indent="-203200">
              <a:lnSpc>
                <a:spcPct val="112000"/>
              </a:lnSpc>
              <a:spcAft>
                <a:spcPts val="900"/>
              </a:spcAft>
              <a:buSzPct val="100000"/>
              <a:buChar char="•"/>
            </a:pPr>
            <a:r>
              <a:rPr lang="en-US" sz="1200" dirty="0">
                <a:solidFill>
                  <a:srgbClr val="8B949E"/>
                </a:solidFill>
                <a:latin typeface="Calibri" pitchFamily="34" charset="0"/>
                <a:ea typeface="Calibri" pitchFamily="34" charset="-122"/>
                <a:cs typeface="Calibri" pitchFamily="34" charset="-120"/>
              </a:rPr>
              <a:t>No authentication, audit trail or multi-user workflow</a:t>
            </a:r>
            <a:endParaRPr lang="en-US" sz="1200" dirty="0"/>
          </a:p>
          <a:p>
            <a:pPr marL="203200" indent="-203200">
              <a:lnSpc>
                <a:spcPct val="112000"/>
              </a:lnSpc>
              <a:spcAft>
                <a:spcPts val="900"/>
              </a:spcAft>
              <a:buSzPct val="100000"/>
              <a:buChar char="•"/>
            </a:pPr>
            <a:r>
              <a:rPr lang="en-US" sz="1200" dirty="0">
                <a:solidFill>
                  <a:srgbClr val="8B949E"/>
                </a:solidFill>
                <a:latin typeface="Calibri" pitchFamily="34" charset="0"/>
                <a:ea typeface="Calibri" pitchFamily="34" charset="-122"/>
                <a:cs typeface="Calibri" pitchFamily="34" charset="-120"/>
              </a:rPr>
              <a:t>All classifications are preliminary and require analyst review</a:t>
            </a:r>
            <a:endParaRPr lang="en-US" sz="1200" dirty="0"/>
          </a:p>
        </p:txBody>
      </p:sp>
      <p:sp>
        <p:nvSpPr>
          <p:cNvPr id="30" name="Shape 26"/>
          <p:cNvSpPr/>
          <p:nvPr/>
        </p:nvSpPr>
        <p:spPr>
          <a:xfrm>
            <a:off x="8143037" y="1572768"/>
            <a:ext cx="3454298" cy="3931920"/>
          </a:xfrm>
          <a:prstGeom prst="roundRect">
            <a:avLst>
              <a:gd name="adj" fmla="val 1588"/>
            </a:avLst>
          </a:prstGeom>
          <a:solidFill>
            <a:srgbClr val="141B26"/>
          </a:solidFill>
          <a:ln w="12700">
            <a:solidFill>
              <a:srgbClr val="2B3644"/>
            </a:solidFill>
            <a:prstDash val="solid"/>
          </a:ln>
        </p:spPr>
      </p:sp>
      <p:sp>
        <p:nvSpPr>
          <p:cNvPr id="31" name="Shape 27"/>
          <p:cNvSpPr/>
          <p:nvPr/>
        </p:nvSpPr>
        <p:spPr>
          <a:xfrm>
            <a:off x="8417357" y="1847088"/>
            <a:ext cx="438912" cy="438912"/>
          </a:xfrm>
          <a:prstGeom prst="ellipse">
            <a:avLst/>
          </a:prstGeom>
          <a:solidFill>
            <a:srgbClr val="3FB950"/>
          </a:solidFill>
          <a:ln/>
        </p:spPr>
      </p:sp>
      <p:pic>
        <p:nvPicPr>
          <p:cNvPr id="32" name="Image 2" descr="icons/rocket.png">    </p:cNvPr>
          <p:cNvPicPr>
            <a:picLocks noChangeAspect="1"/>
          </p:cNvPicPr>
          <p:nvPr/>
        </p:nvPicPr>
        <p:blipFill>
          <a:blip r:embed="rId3"/>
          <a:stretch>
            <a:fillRect/>
          </a:stretch>
        </p:blipFill>
        <p:spPr>
          <a:xfrm>
            <a:off x="8535863" y="1965594"/>
            <a:ext cx="201900" cy="201900"/>
          </a:xfrm>
          <a:prstGeom prst="rect">
            <a:avLst/>
          </a:prstGeom>
        </p:spPr>
      </p:pic>
      <p:sp>
        <p:nvSpPr>
          <p:cNvPr id="33" name="Text 28"/>
          <p:cNvSpPr txBox="1"/>
          <p:nvPr/>
        </p:nvSpPr>
        <p:spPr>
          <a:xfrm>
            <a:off x="8965997" y="1847088"/>
            <a:ext cx="2357018" cy="438912"/>
          </a:xfrm>
          <a:prstGeom prst="rect">
            <a:avLst/>
          </a:prstGeom>
          <a:noFill/>
          <a:ln/>
        </p:spPr>
        <p:txBody>
          <a:bodyPr wrap="square" lIns="0" tIns="0" rIns="0" bIns="0" rtlCol="0" anchor="ctr"/>
          <a:lstStyle/>
          <a:p>
            <a:pPr indent="0" marL="0">
              <a:buNone/>
            </a:pPr>
            <a:r>
              <a:rPr lang="en-US" sz="1600" b="1" dirty="0">
                <a:solidFill>
                  <a:srgbClr val="E6EDF3"/>
                </a:solidFill>
                <a:latin typeface="Arial" pitchFamily="34" charset="0"/>
                <a:ea typeface="Arial" pitchFamily="34" charset="-122"/>
                <a:cs typeface="Arial" pitchFamily="34" charset="-120"/>
              </a:rPr>
              <a:t>What Comes Next</a:t>
            </a:r>
            <a:endParaRPr lang="en-US" sz="1600" dirty="0"/>
          </a:p>
        </p:txBody>
      </p:sp>
      <p:sp>
        <p:nvSpPr>
          <p:cNvPr id="34" name="Text 29"/>
          <p:cNvSpPr txBox="1"/>
          <p:nvPr/>
        </p:nvSpPr>
        <p:spPr>
          <a:xfrm>
            <a:off x="8453933" y="2468880"/>
            <a:ext cx="2832506" cy="2743200"/>
          </a:xfrm>
          <a:prstGeom prst="rect">
            <a:avLst/>
          </a:prstGeom>
          <a:noFill/>
          <a:ln/>
        </p:spPr>
        <p:txBody>
          <a:bodyPr wrap="square" lIns="0" tIns="0" rIns="0" bIns="0" rtlCol="0" anchor="ctr"/>
          <a:lstStyle/>
          <a:p>
            <a:pPr marL="203200" indent="-203200">
              <a:lnSpc>
                <a:spcPct val="112000"/>
              </a:lnSpc>
              <a:spcAft>
                <a:spcPts val="900"/>
              </a:spcAft>
              <a:buSzPct val="100000"/>
              <a:buChar char="•"/>
            </a:pPr>
            <a:r>
              <a:rPr lang="en-US" sz="1200" dirty="0">
                <a:solidFill>
                  <a:srgbClr val="8B949E"/>
                </a:solidFill>
                <a:latin typeface="Calibri" pitchFamily="34" charset="0"/>
                <a:ea typeface="Calibri" pitchFamily="34" charset="-122"/>
                <a:cs typeface="Calibri" pitchFamily="34" charset="-120"/>
              </a:rPr>
              <a:t>Live feed connectors — STIX/TAXII and SIEM APIs</a:t>
            </a:r>
            <a:endParaRPr lang="en-US" sz="1200" dirty="0"/>
          </a:p>
          <a:p>
            <a:pPr marL="203200" indent="-203200">
              <a:lnSpc>
                <a:spcPct val="112000"/>
              </a:lnSpc>
              <a:spcAft>
                <a:spcPts val="900"/>
              </a:spcAft>
              <a:buSzPct val="100000"/>
              <a:buChar char="•"/>
            </a:pPr>
            <a:r>
              <a:rPr lang="en-US" sz="1200" dirty="0">
                <a:solidFill>
                  <a:srgbClr val="8B949E"/>
                </a:solidFill>
                <a:latin typeface="Calibri" pitchFamily="34" charset="0"/>
                <a:ea typeface="Calibri" pitchFamily="34" charset="-122"/>
                <a:cs typeface="Calibri" pitchFamily="34" charset="-120"/>
              </a:rPr>
              <a:t>Server-side storage with shared multi-analyst queues</a:t>
            </a:r>
            <a:endParaRPr lang="en-US" sz="1200" dirty="0"/>
          </a:p>
          <a:p>
            <a:pPr marL="203200" indent="-203200">
              <a:lnSpc>
                <a:spcPct val="112000"/>
              </a:lnSpc>
              <a:spcAft>
                <a:spcPts val="900"/>
              </a:spcAft>
              <a:buSzPct val="100000"/>
              <a:buChar char="•"/>
            </a:pPr>
            <a:r>
              <a:rPr lang="en-US" sz="1200" dirty="0">
                <a:solidFill>
                  <a:srgbClr val="8B949E"/>
                </a:solidFill>
                <a:latin typeface="Calibri" pitchFamily="34" charset="0"/>
                <a:ea typeface="Calibri" pitchFamily="34" charset="-122"/>
                <a:cs typeface="Calibri" pitchFamily="34" charset="-120"/>
              </a:rPr>
              <a:t>False-positive scoring that learns from analyst decisions</a:t>
            </a:r>
            <a:endParaRPr lang="en-US" sz="1200" dirty="0"/>
          </a:p>
          <a:p>
            <a:pPr marL="203200" indent="-203200">
              <a:lnSpc>
                <a:spcPct val="112000"/>
              </a:lnSpc>
              <a:spcAft>
                <a:spcPts val="900"/>
              </a:spcAft>
              <a:buSzPct val="100000"/>
              <a:buChar char="•"/>
            </a:pPr>
            <a:r>
              <a:rPr lang="en-US" sz="1200" dirty="0">
                <a:solidFill>
                  <a:srgbClr val="8B949E"/>
                </a:solidFill>
                <a:latin typeface="Calibri" pitchFamily="34" charset="0"/>
                <a:ea typeface="Calibri" pitchFamily="34" charset="-122"/>
                <a:cs typeface="Calibri" pitchFamily="34" charset="-120"/>
              </a:rPr>
              <a:t>SSO, role-based access and full audit logging</a:t>
            </a:r>
            <a:endParaRPr lang="en-US" sz="1200" dirty="0"/>
          </a:p>
          <a:p>
            <a:pPr marL="203200" indent="-203200">
              <a:lnSpc>
                <a:spcPct val="112000"/>
              </a:lnSpc>
              <a:spcAft>
                <a:spcPts val="900"/>
              </a:spcAft>
              <a:buSzPct val="100000"/>
              <a:buChar char="•"/>
            </a:pPr>
            <a:r>
              <a:rPr lang="en-US" sz="1200" dirty="0">
                <a:solidFill>
                  <a:srgbClr val="8B949E"/>
                </a:solidFill>
                <a:latin typeface="Calibri" pitchFamily="34" charset="0"/>
                <a:ea typeface="Calibri" pitchFamily="34" charset="-122"/>
                <a:cs typeface="Calibri" pitchFamily="34" charset="-120"/>
              </a:rPr>
              <a:t>Automatic MITRE mapping from raw alert text</a:t>
            </a:r>
            <a:endParaRPr lang="en-US" sz="1200" dirty="0"/>
          </a:p>
        </p:txBody>
      </p:sp>
      <p:sp>
        <p:nvSpPr>
          <p:cNvPr id="35" name="Text 30"/>
          <p:cNvSpPr txBox="1"/>
          <p:nvPr/>
        </p:nvSpPr>
        <p:spPr>
          <a:xfrm>
            <a:off x="594360" y="5779008"/>
            <a:ext cx="2743200" cy="347472"/>
          </a:xfrm>
          <a:prstGeom prst="rect">
            <a:avLst/>
          </a:prstGeom>
          <a:noFill/>
          <a:ln/>
        </p:spPr>
        <p:txBody>
          <a:bodyPr wrap="square" lIns="0" tIns="0" rIns="0" bIns="0" rtlCol="0" anchor="ctr"/>
          <a:lstStyle/>
          <a:p>
            <a:pPr indent="0" marL="0">
              <a:buNone/>
            </a:pPr>
            <a:r>
              <a:rPr lang="en-US" sz="1700" b="1" dirty="0">
                <a:solidFill>
                  <a:srgbClr val="E6EDF3"/>
                </a:solidFill>
                <a:latin typeface="Arial" pitchFamily="34" charset="0"/>
                <a:ea typeface="Arial" pitchFamily="34" charset="-122"/>
                <a:cs typeface="Arial" pitchFamily="34" charset="-120"/>
              </a:rPr>
              <a:t>Questions?</a:t>
            </a:r>
            <a:endParaRPr lang="en-US" sz="1700" dirty="0"/>
          </a:p>
        </p:txBody>
      </p:sp>
      <p:sp>
        <p:nvSpPr>
          <p:cNvPr id="36" name="Text 31"/>
          <p:cNvSpPr txBox="1"/>
          <p:nvPr/>
        </p:nvSpPr>
        <p:spPr>
          <a:xfrm>
            <a:off x="4572000" y="5779008"/>
            <a:ext cx="7025335" cy="347472"/>
          </a:xfrm>
          <a:prstGeom prst="rect">
            <a:avLst/>
          </a:prstGeom>
          <a:noFill/>
          <a:ln/>
        </p:spPr>
        <p:txBody>
          <a:bodyPr wrap="square" lIns="0" tIns="0" rIns="0" bIns="0" rtlCol="0" anchor="ctr"/>
          <a:lstStyle/>
          <a:p>
            <a:pPr algn="r" indent="0" marL="0">
              <a:buNone/>
            </a:pPr>
            <a:r>
              <a:rPr lang="en-US" sz="1200" dirty="0">
                <a:solidFill>
                  <a:srgbClr val="58A6FF"/>
                </a:solidFill>
                <a:latin typeface="Courier New" pitchFamily="34" charset="0"/>
                <a:ea typeface="Courier New" pitchFamily="34" charset="-122"/>
                <a:cs typeface="Courier New" pitchFamily="34" charset="-120"/>
              </a:rPr>
              <a:t>ThreatGuard AI  ·  v2.1  ·  magical-arithmetic-3db1c2.netlify.app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ThreatGuard AI - Hackathon Prototype</dc:title>
  <dc:subject>PptxGenJS Presentation</dc:subject>
  <dc:creator>ThreatGuard AI</dc:creator>
  <cp:lastModifiedBy>ThreatGuard AI</cp:lastModifiedBy>
  <cp:revision>1</cp:revision>
  <dcterms:created xsi:type="dcterms:W3CDTF">2026-09-15T06:21:01Z</dcterms:created>
  <dcterms:modified xsi:type="dcterms:W3CDTF">2026-09-15T06:21:01Z</dcterms:modified>
</cp:coreProperties>
</file>